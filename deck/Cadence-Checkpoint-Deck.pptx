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65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165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74775" y="958291"/>
            <a:ext cx="119329" cy="460857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4011" y="1129055"/>
            <a:ext cx="460857" cy="119329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3080" y="841248"/>
            <a:ext cx="4572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5F5"/>
                </a:solidFill>
                <a:latin typeface="Arial"/>
              </a:rPr>
              <a:t>Cadence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0604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111318"/>
          </a:solidFill>
          <a:ln w="12700">
            <a:solidFill>
              <a:srgbClr val="165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>
                <a:solidFill>
                  <a:srgbClr val="1652F0"/>
                </a:solidFill>
                <a:latin typeface="Arial"/>
              </a:rPr>
              <a:t>LIVE ON ARC TESTNET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1060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5F5F5"/>
                </a:solidFill>
                <a:latin typeface="Arial"/>
              </a:rPr>
              <a:t>Payroll that pays </a:t>
            </a:r>
            <a:r>
              <a:rPr sz="5200" b="1">
                <a:solidFill>
                  <a:srgbClr val="1652F0"/>
                </a:solidFill>
                <a:latin typeface="Arial"/>
              </a:rPr>
              <a:t>every second.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8961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9CA3AF"/>
                </a:solidFill>
                <a:latin typeface="Arial"/>
              </a:rPr>
              <a:t>Continuous USDC payroll streaming on Arc. Employers deposit once, employees earn by the second and withdraw anytime in about 350ms.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B7280"/>
                </a:solidFill>
                <a:latin typeface="Arial"/>
              </a:rPr>
              <a:t>Hackathon checkpoint  </a:t>
            </a:r>
            <a:r>
              <a:rPr sz="1200" b="0">
                <a:solidFill>
                  <a:srgbClr val="6B7280"/>
                </a:solidFill>
                <a:latin typeface="Arial"/>
              </a:rPr>
              <a:t>|  Progress review  |  </a:t>
            </a:r>
            <a:r>
              <a:rPr sz="1200" b="0">
                <a:solidFill>
                  <a:srgbClr val="1652F0"/>
                </a:solidFill>
                <a:latin typeface="Consolas"/>
              </a:rPr>
              <a:t>cadence-phi-ochre.vercel.app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54864" cy="384048"/>
          </a:xfrm>
          <a:prstGeom prst="rect">
            <a:avLst/>
          </a:prstGeom>
          <a:solidFill>
            <a:srgbClr val="165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5F5"/>
                </a:solidFill>
                <a:latin typeface="Aria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CA3AF"/>
                </a:solidFill>
                <a:latin typeface="Arial"/>
              </a:rPr>
              <a:t>The monthly pay cycle is a leftover from paper banking.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3429000" cy="3108960"/>
          </a:xfrm>
          <a:prstGeom prst="roundRect">
            <a:avLst>
              <a:gd name="adj" fmla="val 6000"/>
            </a:avLst>
          </a:prstGeom>
          <a:solidFill>
            <a:srgbClr val="111318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468880"/>
            <a:ext cx="2788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52F0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80360"/>
            <a:ext cx="2788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5F5"/>
                </a:solidFill>
                <a:latin typeface="Arial"/>
              </a:rPr>
              <a:t>Workers wait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11880"/>
            <a:ext cx="27889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A3AF"/>
                </a:solidFill>
                <a:latin typeface="Arial"/>
              </a:rPr>
              <a:t>People earn every day but get paid once a month. Money they have already earned sits locked in someone else's account.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2148840"/>
            <a:ext cx="3429000" cy="3108960"/>
          </a:xfrm>
          <a:prstGeom prst="roundRect">
            <a:avLst>
              <a:gd name="adj" fmla="val 6000"/>
            </a:avLst>
          </a:prstGeom>
          <a:solidFill>
            <a:srgbClr val="111318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468880"/>
            <a:ext cx="2788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52F0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880360"/>
            <a:ext cx="2788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5F5"/>
                </a:solidFill>
                <a:latin typeface="Arial"/>
              </a:rPr>
              <a:t>Rails are slow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3611880"/>
            <a:ext cx="27889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A3AF"/>
                </a:solidFill>
                <a:latin typeface="Arial"/>
              </a:rPr>
              <a:t>Bank transfers take days and cross border payroll is worse. Fees stack up and cutoff times cause delays.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2148840"/>
            <a:ext cx="3429000" cy="3108960"/>
          </a:xfrm>
          <a:prstGeom prst="roundRect">
            <a:avLst>
              <a:gd name="adj" fmla="val 6000"/>
            </a:avLst>
          </a:prstGeom>
          <a:solidFill>
            <a:srgbClr val="111318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2468880"/>
            <a:ext cx="2788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52F0"/>
                </a:solidFill>
                <a:latin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880360"/>
            <a:ext cx="2788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5F5"/>
                </a:solidFill>
                <a:latin typeface="Arial"/>
              </a:rPr>
              <a:t>Trust is required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611880"/>
            <a:ext cx="27889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A3AF"/>
                </a:solidFill>
                <a:latin typeface="Arial"/>
              </a:rPr>
              <a:t>Employees have to trust that the funds exist and will actually arrive. The balance is invisible until payday.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355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onsolas"/>
              </a:rPr>
              <a:t>PROBLEM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55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onsolas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54864" cy="384048"/>
          </a:xfrm>
          <a:prstGeom prst="rect">
            <a:avLst/>
          </a:prstGeom>
          <a:solidFill>
            <a:srgbClr val="165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5F5"/>
                </a:solidFill>
                <a:latin typeface="Arial"/>
              </a:rPr>
              <a:t>What Cadence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9CA3AF"/>
                </a:solidFill>
                <a:latin typeface="Arial"/>
              </a:rPr>
              <a:t>Cadence flips payroll from a monthly event into a continuous flow. The moment an employer starts a stream, USDC begins moving to the employee every second, all on a smart contract.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3429000" cy="1737360"/>
          </a:xfrm>
          <a:prstGeom prst="roundRect">
            <a:avLst>
              <a:gd name="adj" fmla="val 6000"/>
            </a:avLst>
          </a:prstGeom>
          <a:solidFill>
            <a:srgbClr val="111318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5F5F5"/>
                </a:solidFill>
                <a:latin typeface="Arial"/>
              </a:rPr>
              <a:t>Settles in ~350ms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81528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CA3AF"/>
                </a:solidFill>
                <a:latin typeface="Arial"/>
              </a:rPr>
              <a:t>Arc finality is sub second. Withdrawn funds arrive almost instantly.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2331720"/>
            <a:ext cx="3429000" cy="1737360"/>
          </a:xfrm>
          <a:prstGeom prst="roundRect">
            <a:avLst>
              <a:gd name="adj" fmla="val 6000"/>
            </a:avLst>
          </a:prstGeom>
          <a:solidFill>
            <a:srgbClr val="111318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2560320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5F5F5"/>
                </a:solidFill>
                <a:latin typeface="Arial"/>
              </a:rPr>
              <a:t>Predictable fees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3081528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CA3AF"/>
                </a:solidFill>
                <a:latin typeface="Arial"/>
              </a:rPr>
              <a:t>Arc uses USDC for gas, so costs stay stable with no volatile gas token.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6" y="2331720"/>
            <a:ext cx="3429000" cy="1737360"/>
          </a:xfrm>
          <a:prstGeom prst="roundRect">
            <a:avLst>
              <a:gd name="adj" fmla="val 6000"/>
            </a:avLst>
          </a:prstGeom>
          <a:solidFill>
            <a:srgbClr val="111318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6" y="2560320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5F5F5"/>
                </a:solidFill>
                <a:latin typeface="Arial"/>
              </a:rPr>
              <a:t>Withdraw anytime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6" y="3081528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CA3AF"/>
                </a:solidFill>
                <a:latin typeface="Arial"/>
              </a:rPr>
              <a:t>Employees pull what they have earned whenever they want. No payday.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70248"/>
            <a:ext cx="3429000" cy="1737360"/>
          </a:xfrm>
          <a:prstGeom prst="roundRect">
            <a:avLst>
              <a:gd name="adj" fmla="val 6000"/>
            </a:avLst>
          </a:prstGeom>
          <a:solidFill>
            <a:srgbClr val="111318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498848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5F5F5"/>
                </a:solidFill>
                <a:latin typeface="Arial"/>
              </a:rPr>
              <a:t>Live runway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020056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CA3AF"/>
                </a:solidFill>
                <a:latin typeface="Arial"/>
              </a:rPr>
              <a:t>Employers see exactly how long each stream can run before it empties.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4270248"/>
            <a:ext cx="3429000" cy="1737360"/>
          </a:xfrm>
          <a:prstGeom prst="roundRect">
            <a:avLst>
              <a:gd name="adj" fmla="val 6000"/>
            </a:avLst>
          </a:prstGeom>
          <a:solidFill>
            <a:srgbClr val="111318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8" y="4498848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5F5F5"/>
                </a:solidFill>
                <a:latin typeface="Arial"/>
              </a:rPr>
              <a:t>Built in records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8" y="5020056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CA3AF"/>
                </a:solidFill>
                <a:latin typeface="Arial"/>
              </a:rPr>
              <a:t>Every stream carries an invoice or tax reference for clean bookkeeping.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91856" y="4270248"/>
            <a:ext cx="3429000" cy="1737360"/>
          </a:xfrm>
          <a:prstGeom prst="roundRect">
            <a:avLst>
              <a:gd name="adj" fmla="val 6000"/>
            </a:avLst>
          </a:prstGeom>
          <a:solidFill>
            <a:srgbClr val="111318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4498848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5F5F5"/>
                </a:solidFill>
                <a:latin typeface="Arial"/>
              </a:rPr>
              <a:t>Non custodial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6" y="5020056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CA3AF"/>
                </a:solidFill>
                <a:latin typeface="Arial"/>
              </a:rPr>
              <a:t>No company holds the money. Funds live in the contract until claimed.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355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onsolas"/>
              </a:rPr>
              <a:t>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355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onsolas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54864" cy="384048"/>
          </a:xfrm>
          <a:prstGeom prst="rect">
            <a:avLst/>
          </a:prstGeom>
          <a:solidFill>
            <a:srgbClr val="165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5F5"/>
                </a:solidFill>
                <a:latin typeface="Arial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CA3AF"/>
                </a:solidFill>
                <a:latin typeface="Arial"/>
              </a:rPr>
              <a:t>Five steps from deposit to withdrawal, fully on chain.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rgbClr val="111318"/>
          </a:solidFill>
          <a:ln w="15875">
            <a:solidFill>
              <a:srgbClr val="165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1652F0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039112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F5F5"/>
                </a:solidFill>
                <a:latin typeface="Arial"/>
              </a:rPr>
              <a:t>Approve and deposit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039112"/>
            <a:ext cx="6766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CA3AF"/>
                </a:solidFill>
                <a:latin typeface="Arial"/>
              </a:rPr>
              <a:t>The employer approves Cadence to spend USDC and deposits a lump sum.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898648"/>
            <a:ext cx="548640" cy="548640"/>
          </a:xfrm>
          <a:prstGeom prst="ellipse">
            <a:avLst/>
          </a:prstGeom>
          <a:solidFill>
            <a:srgbClr val="111318"/>
          </a:solidFill>
          <a:ln w="15875">
            <a:solidFill>
              <a:srgbClr val="165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1652F0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880360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F5F5"/>
                </a:solidFill>
                <a:latin typeface="Arial"/>
              </a:rPr>
              <a:t>Create a stream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880360"/>
            <a:ext cx="6766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CA3AF"/>
                </a:solidFill>
                <a:latin typeface="Arial"/>
              </a:rPr>
              <a:t>Set the employee address, total amount, duration and an optional invoice reference.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739896"/>
            <a:ext cx="548640" cy="548640"/>
          </a:xfrm>
          <a:prstGeom prst="ellipse">
            <a:avLst/>
          </a:prstGeom>
          <a:solidFill>
            <a:srgbClr val="111318"/>
          </a:solidFill>
          <a:ln w="15875">
            <a:solidFill>
              <a:srgbClr val="165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1652F0"/>
                </a:solidFill>
                <a:latin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72160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F5F5"/>
                </a:solidFill>
                <a:latin typeface="Arial"/>
              </a:rPr>
              <a:t>USDC flows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21608"/>
            <a:ext cx="6766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CA3AF"/>
                </a:solidFill>
                <a:latin typeface="Arial"/>
              </a:rPr>
              <a:t>The contract streams per second. The employee dashboard ticks up in real time.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581144"/>
            <a:ext cx="548640" cy="548640"/>
          </a:xfrm>
          <a:prstGeom prst="ellipse">
            <a:avLst/>
          </a:prstGeom>
          <a:solidFill>
            <a:srgbClr val="111318"/>
          </a:solidFill>
          <a:ln w="15875">
            <a:solidFill>
              <a:srgbClr val="165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1652F0"/>
                </a:solidFill>
                <a:latin typeface="Consola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5628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F5F5"/>
                </a:solidFill>
                <a:latin typeface="Arial"/>
              </a:rPr>
              <a:t>Withdraw anytime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562856"/>
            <a:ext cx="6766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CA3AF"/>
                </a:solidFill>
                <a:latin typeface="Arial"/>
              </a:rPr>
              <a:t>The employee claims accrued earnings whenever they like. Funds land in ~350ms.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5422392"/>
            <a:ext cx="548640" cy="548640"/>
          </a:xfrm>
          <a:prstGeom prst="ellipse">
            <a:avLst/>
          </a:prstGeom>
          <a:solidFill>
            <a:srgbClr val="111318"/>
          </a:solidFill>
          <a:ln w="15875">
            <a:solidFill>
              <a:srgbClr val="165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1652F0"/>
                </a:solidFill>
                <a:latin typeface="Consola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540410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F5F5"/>
                </a:solidFill>
                <a:latin typeface="Arial"/>
              </a:rPr>
              <a:t>Top up or cancel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5404104"/>
            <a:ext cx="6766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CA3AF"/>
                </a:solidFill>
                <a:latin typeface="Arial"/>
              </a:rPr>
              <a:t>The employer adds funds or cancels. Unstreamed USDC returns to the employer.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355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onsolas"/>
              </a:rPr>
              <a:t>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55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onsolas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54864" cy="384048"/>
          </a:xfrm>
          <a:prstGeom prst="rect">
            <a:avLst/>
          </a:prstGeom>
          <a:solidFill>
            <a:srgbClr val="165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5F5"/>
                </a:solidFill>
                <a:latin typeface="Arial"/>
              </a:rPr>
              <a:t>Where we are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9CA3AF"/>
                </a:solidFill>
                <a:latin typeface="Arial"/>
              </a:rPr>
              <a:t>End to end product is live on Arc Testnet. Contract deployed, frontend shipped, core flows working.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670048" cy="1051560"/>
          </a:xfrm>
          <a:prstGeom prst="roundRect">
            <a:avLst>
              <a:gd name="adj" fmla="val 6000"/>
            </a:avLst>
          </a:prstGeom>
          <a:solidFill>
            <a:srgbClr val="111318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148840"/>
            <a:ext cx="221284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52F0"/>
                </a:solidFill>
                <a:latin typeface="Consolas"/>
              </a:rPr>
              <a:t>Deployed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670048"/>
            <a:ext cx="2212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CA3AF"/>
                </a:solidFill>
                <a:latin typeface="Arial"/>
              </a:rPr>
              <a:t>Contract live on Arc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011680"/>
            <a:ext cx="2670048" cy="1051560"/>
          </a:xfrm>
          <a:prstGeom prst="roundRect">
            <a:avLst>
              <a:gd name="adj" fmla="val 6000"/>
            </a:avLst>
          </a:prstGeom>
          <a:solidFill>
            <a:srgbClr val="111318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22192" y="2148840"/>
            <a:ext cx="221284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52F0"/>
                </a:solidFill>
                <a:latin typeface="Consolas"/>
              </a:rPr>
              <a:t>6 /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2192" y="2670048"/>
            <a:ext cx="2212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CA3AF"/>
                </a:solidFill>
                <a:latin typeface="Arial"/>
              </a:rPr>
              <a:t>Forge tests passing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2670048" cy="1051560"/>
          </a:xfrm>
          <a:prstGeom prst="roundRect">
            <a:avLst>
              <a:gd name="adj" fmla="val 6000"/>
            </a:avLst>
          </a:prstGeom>
          <a:solidFill>
            <a:srgbClr val="111318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6832" y="2148840"/>
            <a:ext cx="221284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52F0"/>
                </a:solidFill>
                <a:latin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2670048"/>
            <a:ext cx="2212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CA3AF"/>
                </a:solidFill>
                <a:latin typeface="Arial"/>
              </a:rPr>
              <a:t>App routes shipped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011680"/>
            <a:ext cx="2670048" cy="1051560"/>
          </a:xfrm>
          <a:prstGeom prst="roundRect">
            <a:avLst>
              <a:gd name="adj" fmla="val 6000"/>
            </a:avLst>
          </a:prstGeom>
          <a:solidFill>
            <a:srgbClr val="111318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91472" y="2148840"/>
            <a:ext cx="221284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52F0"/>
                </a:solidFill>
                <a:latin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91472" y="2670048"/>
            <a:ext cx="2212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CA3AF"/>
                </a:solidFill>
                <a:latin typeface="Arial"/>
              </a:rPr>
              <a:t>On chain actions working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37560"/>
            <a:ext cx="5532120" cy="2788920"/>
          </a:xfrm>
          <a:prstGeom prst="roundRect">
            <a:avLst>
              <a:gd name="adj" fmla="val 6000"/>
            </a:avLst>
          </a:prstGeom>
          <a:solidFill>
            <a:srgbClr val="111318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5204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ADE80"/>
                </a:solidFill>
                <a:latin typeface="Arial"/>
              </a:rPr>
              <a:t>Shipped and working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77639"/>
            <a:ext cx="49377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ADE80"/>
                </a:solidFill>
                <a:latin typeface="Arial"/>
              </a:rPr>
              <a:t>+  </a:t>
            </a:r>
            <a:r>
              <a:rPr sz="1350" b="0">
                <a:solidFill>
                  <a:srgbClr val="9CA3AF"/>
                </a:solidFill>
                <a:latin typeface="Arial"/>
              </a:rPr>
              <a:t>PayrollManager contract deployed to Arc Testnet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ADE80"/>
                </a:solidFill>
                <a:latin typeface="Arial"/>
              </a:rPr>
              <a:t>+  </a:t>
            </a:r>
            <a:r>
              <a:rPr sz="1350" b="0">
                <a:solidFill>
                  <a:srgbClr val="9CA3AF"/>
                </a:solidFill>
                <a:latin typeface="Arial"/>
              </a:rPr>
              <a:t>Create, withdraw, top up and cancel all functioning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ADE80"/>
                </a:solidFill>
                <a:latin typeface="Arial"/>
              </a:rPr>
              <a:t>+  </a:t>
            </a:r>
            <a:r>
              <a:rPr sz="1350" b="0">
                <a:solidFill>
                  <a:srgbClr val="9CA3AF"/>
                </a:solidFill>
                <a:latin typeface="Arial"/>
              </a:rPr>
              <a:t>Employer dashboard: balance, streams, create and manage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ADE80"/>
                </a:solidFill>
                <a:latin typeface="Arial"/>
              </a:rPr>
              <a:t>+  </a:t>
            </a:r>
            <a:r>
              <a:rPr sz="1350" b="0">
                <a:solidFill>
                  <a:srgbClr val="9CA3AF"/>
                </a:solidFill>
                <a:latin typeface="Arial"/>
              </a:rPr>
              <a:t>Employee dashboard: live per second earnings ticker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ADE80"/>
                </a:solidFill>
                <a:latin typeface="Arial"/>
              </a:rPr>
              <a:t>+  </a:t>
            </a:r>
            <a:r>
              <a:rPr sz="1350" b="0">
                <a:solidFill>
                  <a:srgbClr val="9CA3AF"/>
                </a:solidFill>
                <a:latin typeface="Arial"/>
              </a:rPr>
              <a:t>Wallet connect, USDC approval flow, live runway display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4ADE80"/>
                </a:solidFill>
                <a:latin typeface="Arial"/>
              </a:rPr>
              <a:t>+  </a:t>
            </a:r>
            <a:r>
              <a:rPr sz="1350" b="0">
                <a:solidFill>
                  <a:srgbClr val="9CA3AF"/>
                </a:solidFill>
                <a:latin typeface="Arial"/>
              </a:rPr>
              <a:t>Full Foundry test suite green (6 tests)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3337560"/>
            <a:ext cx="4983480" cy="2788920"/>
          </a:xfrm>
          <a:prstGeom prst="roundRect">
            <a:avLst>
              <a:gd name="adj" fmla="val 6000"/>
            </a:avLst>
          </a:prstGeom>
          <a:solidFill>
            <a:srgbClr val="111318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352044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652F0"/>
                </a:solidFill>
                <a:latin typeface="Arial"/>
              </a:rPr>
              <a:t>In progress and next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977639"/>
            <a:ext cx="43891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652F0"/>
                </a:solidFill>
                <a:latin typeface="Arial"/>
              </a:rPr>
              <a:t>&gt;  </a:t>
            </a:r>
            <a:r>
              <a:rPr sz="1350" b="0">
                <a:solidFill>
                  <a:srgbClr val="9CA3AF"/>
                </a:solidFill>
                <a:latin typeface="Arial"/>
              </a:rPr>
              <a:t>Event indexing for withdrawal and payment history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652F0"/>
                </a:solidFill>
                <a:latin typeface="Arial"/>
              </a:rPr>
              <a:t>&gt;  </a:t>
            </a:r>
            <a:r>
              <a:rPr sz="1350" b="0">
                <a:solidFill>
                  <a:srgbClr val="9CA3AF"/>
                </a:solidFill>
                <a:latin typeface="Arial"/>
              </a:rPr>
              <a:t>Contract audit pass and dust handling refinement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652F0"/>
                </a:solidFill>
                <a:latin typeface="Arial"/>
              </a:rPr>
              <a:t>&gt;  </a:t>
            </a:r>
            <a:r>
              <a:rPr sz="1350" b="0">
                <a:solidFill>
                  <a:srgbClr val="9CA3AF"/>
                </a:solidFill>
                <a:latin typeface="Arial"/>
              </a:rPr>
              <a:t>Multi token support beyond USDC (EURC on Arc)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652F0"/>
                </a:solidFill>
                <a:latin typeface="Arial"/>
              </a:rPr>
              <a:t>&gt;  </a:t>
            </a:r>
            <a:r>
              <a:rPr sz="1350" b="0">
                <a:solidFill>
                  <a:srgbClr val="9CA3AF"/>
                </a:solidFill>
                <a:latin typeface="Arial"/>
              </a:rPr>
              <a:t>Batch stream creation for teams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652F0"/>
                </a:solidFill>
                <a:latin typeface="Arial"/>
              </a:rPr>
              <a:t>&gt;  </a:t>
            </a:r>
            <a:r>
              <a:rPr sz="1350" b="0">
                <a:solidFill>
                  <a:srgbClr val="9CA3AF"/>
                </a:solidFill>
                <a:latin typeface="Arial"/>
              </a:rPr>
              <a:t>Mainnet deployment and onboarding polish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355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onsolas"/>
              </a:rPr>
              <a:t>PROGRESS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355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onsolas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54864" cy="384048"/>
          </a:xfrm>
          <a:prstGeom prst="rect">
            <a:avLst/>
          </a:prstGeom>
          <a:solidFill>
            <a:srgbClr val="165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5F5"/>
                </a:solidFill>
                <a:latin typeface="Arial"/>
              </a:rPr>
              <a:t>The product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CA3AF"/>
                </a:solidFill>
                <a:latin typeface="Arial"/>
              </a:rPr>
              <a:t>Two dashboards, one contract. Both are live in the deployed 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5349240" cy="4160520"/>
          </a:xfrm>
          <a:prstGeom prst="roundRect">
            <a:avLst>
              <a:gd name="adj" fmla="val 6000"/>
            </a:avLst>
          </a:prstGeom>
          <a:solidFill>
            <a:srgbClr val="111318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2402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A0B0D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>
                <a:solidFill>
                  <a:srgbClr val="1652F0"/>
                </a:solidFill>
                <a:latin typeface="Arial"/>
              </a:rPr>
              <a:t>EMPLOYER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5F5F5"/>
                </a:solidFill>
                <a:latin typeface="Arial"/>
              </a:rPr>
              <a:t>Fund and manage payroll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337560"/>
            <a:ext cx="4709160" cy="960120"/>
          </a:xfrm>
          <a:prstGeom prst="roundRect">
            <a:avLst>
              <a:gd name="adj" fmla="val 6000"/>
            </a:avLst>
          </a:prstGeom>
          <a:solidFill>
            <a:srgbClr val="0A0B0D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4747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B7280"/>
                </a:solidFill>
                <a:latin typeface="Arial"/>
              </a:rPr>
              <a:t>USDC 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749039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5F5F5"/>
                </a:solidFill>
                <a:latin typeface="Consolas"/>
              </a:rPr>
              <a:t>$48,250.00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526280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52F0"/>
                </a:solidFill>
                <a:latin typeface="Arial"/>
              </a:rPr>
              <a:t>+  </a:t>
            </a:r>
            <a:r>
              <a:rPr sz="1350" b="0">
                <a:solidFill>
                  <a:srgbClr val="9CA3AF"/>
                </a:solidFill>
                <a:latin typeface="Arial"/>
              </a:rPr>
              <a:t>Create streams with rate and runway preview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983480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52F0"/>
                </a:solidFill>
                <a:latin typeface="Arial"/>
              </a:rPr>
              <a:t>+  </a:t>
            </a:r>
            <a:r>
              <a:rPr sz="1350" b="0">
                <a:solidFill>
                  <a:srgbClr val="9CA3AF"/>
                </a:solidFill>
                <a:latin typeface="Arial"/>
              </a:rPr>
              <a:t>Top up or cancel any active stream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440680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652F0"/>
                </a:solidFill>
                <a:latin typeface="Arial"/>
              </a:rPr>
              <a:t>+  </a:t>
            </a:r>
            <a:r>
              <a:rPr sz="1350" b="0">
                <a:solidFill>
                  <a:srgbClr val="9CA3AF"/>
                </a:solidFill>
                <a:latin typeface="Arial"/>
              </a:rPr>
              <a:t>See daily and monthly equivalents per stream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65960"/>
            <a:ext cx="5120640" cy="4160520"/>
          </a:xfrm>
          <a:prstGeom prst="roundRect">
            <a:avLst>
              <a:gd name="adj" fmla="val 6000"/>
            </a:avLst>
          </a:prstGeom>
          <a:solidFill>
            <a:srgbClr val="111318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20" y="22402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A0B0D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>
                <a:solidFill>
                  <a:srgbClr val="4ADE80"/>
                </a:solidFill>
                <a:latin typeface="Arial"/>
              </a:rPr>
              <a:t>EMPLOYEE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5F5F5"/>
                </a:solidFill>
                <a:latin typeface="Arial"/>
              </a:rPr>
              <a:t>Watch earnings in real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3337560"/>
            <a:ext cx="4480560" cy="960120"/>
          </a:xfrm>
          <a:prstGeom prst="roundRect">
            <a:avLst>
              <a:gd name="adj" fmla="val 6000"/>
            </a:avLst>
          </a:prstGeom>
          <a:solidFill>
            <a:srgbClr val="0A0B0D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34747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B7280"/>
                </a:solidFill>
                <a:latin typeface="Arial"/>
              </a:rPr>
              <a:t>READY TO WITHDRAW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749039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5F5F5"/>
                </a:solidFill>
                <a:latin typeface="Consolas"/>
              </a:rPr>
              <a:t>$127</a:t>
            </a:r>
            <a:r>
              <a:rPr sz="2400" b="1">
                <a:solidFill>
                  <a:srgbClr val="1652F0"/>
                </a:solidFill>
                <a:latin typeface="Consolas"/>
              </a:rPr>
              <a:t>.840512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526280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ADE80"/>
                </a:solidFill>
                <a:latin typeface="Arial"/>
              </a:rPr>
              <a:t>+  </a:t>
            </a:r>
            <a:r>
              <a:rPr sz="1350" b="0">
                <a:solidFill>
                  <a:srgbClr val="9CA3AF"/>
                </a:solidFill>
                <a:latin typeface="Arial"/>
              </a:rPr>
              <a:t>Per second ticker interpolated at 60fps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983480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ADE80"/>
                </a:solidFill>
                <a:latin typeface="Arial"/>
              </a:rPr>
              <a:t>+  </a:t>
            </a:r>
            <a:r>
              <a:rPr sz="1350" b="0">
                <a:solidFill>
                  <a:srgbClr val="9CA3AF"/>
                </a:solidFill>
                <a:latin typeface="Arial"/>
              </a:rPr>
              <a:t>One click withdraw of accrued USDC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440680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ADE80"/>
                </a:solidFill>
                <a:latin typeface="Arial"/>
              </a:rPr>
              <a:t>+  </a:t>
            </a:r>
            <a:r>
              <a:rPr sz="1350" b="0">
                <a:solidFill>
                  <a:srgbClr val="9CA3AF"/>
                </a:solidFill>
                <a:latin typeface="Arial"/>
              </a:rPr>
              <a:t>Live runway and stream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355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onsolas"/>
              </a:rPr>
              <a:t>PRODUCT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355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onsolas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54864" cy="384048"/>
          </a:xfrm>
          <a:prstGeom prst="rect">
            <a:avLst/>
          </a:prstGeom>
          <a:solidFill>
            <a:srgbClr val="165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5F5"/>
                </a:solidFill>
                <a:latin typeface="Arial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CA3AF"/>
                </a:solidFill>
                <a:latin typeface="Arial"/>
              </a:rPr>
              <a:t>A thin, auditable contract with a real time frontend on top.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44200" cy="896112"/>
          </a:xfrm>
          <a:prstGeom prst="roundRect">
            <a:avLst>
              <a:gd name="adj" fmla="val 6000"/>
            </a:avLst>
          </a:prstGeom>
          <a:solidFill>
            <a:srgbClr val="111318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2231136"/>
            <a:ext cx="1691640" cy="457200"/>
          </a:xfrm>
          <a:prstGeom prst="roundRect">
            <a:avLst/>
          </a:prstGeom>
          <a:solidFill>
            <a:srgbClr val="0A0B0D"/>
          </a:solidFill>
          <a:ln w="12700">
            <a:solidFill>
              <a:srgbClr val="165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1652F0"/>
                </a:solidFill>
                <a:latin typeface="Consola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139696"/>
            <a:ext cx="3017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5F5"/>
                </a:solidFill>
                <a:latin typeface="Consolas"/>
              </a:rPr>
              <a:t>Next.js 15  |  TypeScript  |  Tailwind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103120"/>
            <a:ext cx="5349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CA3AF"/>
                </a:solidFill>
                <a:latin typeface="Arial"/>
              </a:rPr>
              <a:t>Landing, employer and employee dashboards. Client side ticker interpolates on chain values so the UI stays smooth without hammering the RPC.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35808"/>
            <a:ext cx="10744200" cy="896112"/>
          </a:xfrm>
          <a:prstGeom prst="roundRect">
            <a:avLst>
              <a:gd name="adj" fmla="val 6000"/>
            </a:avLst>
          </a:prstGeom>
          <a:solidFill>
            <a:srgbClr val="111318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3255264"/>
            <a:ext cx="1691640" cy="457200"/>
          </a:xfrm>
          <a:prstGeom prst="roundRect">
            <a:avLst/>
          </a:prstGeom>
          <a:solidFill>
            <a:srgbClr val="0A0B0D"/>
          </a:solidFill>
          <a:ln w="12700">
            <a:solidFill>
              <a:srgbClr val="165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1652F0"/>
                </a:solidFill>
                <a:latin typeface="Consolas"/>
              </a:rPr>
              <a:t>WEB3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163824"/>
            <a:ext cx="3017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5F5"/>
                </a:solidFill>
                <a:latin typeface="Consolas"/>
              </a:rPr>
              <a:t>wagmi v2  |  viem  |  injected wallet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127248"/>
            <a:ext cx="5349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CA3AF"/>
                </a:solidFill>
                <a:latin typeface="Arial"/>
              </a:rPr>
              <a:t>Typed read and write hooks with polling refetch. Approval and transaction flows handled with clear pending and error states.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59936"/>
            <a:ext cx="10744200" cy="896112"/>
          </a:xfrm>
          <a:prstGeom prst="roundRect">
            <a:avLst>
              <a:gd name="adj" fmla="val 6000"/>
            </a:avLst>
          </a:prstGeom>
          <a:solidFill>
            <a:srgbClr val="111318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" y="4279392"/>
            <a:ext cx="1691640" cy="457200"/>
          </a:xfrm>
          <a:prstGeom prst="roundRect">
            <a:avLst/>
          </a:prstGeom>
          <a:solidFill>
            <a:srgbClr val="0A0B0D"/>
          </a:solidFill>
          <a:ln w="12700">
            <a:solidFill>
              <a:srgbClr val="165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1652F0"/>
                </a:solidFill>
                <a:latin typeface="Consolas"/>
              </a:rPr>
              <a:t>CONTRACT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4187952"/>
            <a:ext cx="3017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5F5"/>
                </a:solidFill>
                <a:latin typeface="Consolas"/>
              </a:rPr>
              <a:t>Solidity 0.8  |  Foundry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151376"/>
            <a:ext cx="5349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CA3AF"/>
                </a:solidFill>
                <a:latin typeface="Arial"/>
              </a:rPr>
              <a:t>PayrollManager holds deposits and computes accrual per second. Reentrancy guarded. Deployed and verified on Arc Testnet.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084064"/>
            <a:ext cx="10744200" cy="896112"/>
          </a:xfrm>
          <a:prstGeom prst="roundRect">
            <a:avLst>
              <a:gd name="adj" fmla="val 6000"/>
            </a:avLst>
          </a:prstGeom>
          <a:solidFill>
            <a:srgbClr val="111318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0120" y="5303520"/>
            <a:ext cx="1691640" cy="457200"/>
          </a:xfrm>
          <a:prstGeom prst="roundRect">
            <a:avLst/>
          </a:prstGeom>
          <a:solidFill>
            <a:srgbClr val="0A0B0D"/>
          </a:solidFill>
          <a:ln w="12700">
            <a:solidFill>
              <a:srgbClr val="165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1652F0"/>
                </a:solidFill>
                <a:latin typeface="Consolas"/>
              </a:rPr>
              <a:t>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5212080"/>
            <a:ext cx="3017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5F5"/>
                </a:solidFill>
                <a:latin typeface="Consolas"/>
              </a:rPr>
              <a:t>Arc Testnet  |  Chain 5042002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5175504"/>
            <a:ext cx="5349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CA3AF"/>
                </a:solidFill>
                <a:latin typeface="Arial"/>
              </a:rPr>
              <a:t>USDC as the gas and payment token. Sub second finality makes streaming and instant withdrawal practical.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355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onsolas"/>
              </a:rPr>
              <a:t>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355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onsolas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54864" cy="384048"/>
          </a:xfrm>
          <a:prstGeom prst="rect">
            <a:avLst/>
          </a:prstGeom>
          <a:solidFill>
            <a:srgbClr val="165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5F5"/>
                </a:solidFill>
                <a:latin typeface="Arial"/>
              </a:rPr>
              <a:t>The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CA3AF"/>
                </a:solidFill>
                <a:latin typeface="Arial"/>
              </a:rPr>
              <a:t>PayrollManager keeps the money logic small and legible.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486400" cy="4114800"/>
          </a:xfrm>
          <a:prstGeom prst="roundRect">
            <a:avLst>
              <a:gd name="adj" fmla="val 6000"/>
            </a:avLst>
          </a:prstGeom>
          <a:solidFill>
            <a:srgbClr val="111318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5F5F5"/>
                </a:solidFill>
                <a:latin typeface="Arial"/>
              </a:rPr>
              <a:t>Core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52F0"/>
                </a:solidFill>
                <a:latin typeface="Consolas"/>
              </a:rPr>
              <a:t>createStream()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69748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CA3AF"/>
                </a:solidFill>
                <a:latin typeface="Arial"/>
              </a:rPr>
              <a:t>employer opens a stream and funds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46120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52F0"/>
                </a:solidFill>
                <a:latin typeface="Consolas"/>
              </a:rPr>
              <a:t>withdraw()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24612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CA3AF"/>
                </a:solidFill>
                <a:latin typeface="Arial"/>
              </a:rPr>
              <a:t>employee claims accrued USDC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794760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52F0"/>
                </a:solidFill>
                <a:latin typeface="Consolas"/>
              </a:rPr>
              <a:t>topUp()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79476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CA3AF"/>
                </a:solidFill>
                <a:latin typeface="Arial"/>
              </a:rPr>
              <a:t>employer adds funds, reactivates if drained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343400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52F0"/>
                </a:solidFill>
                <a:latin typeface="Consolas"/>
              </a:rPr>
              <a:t>cancelStream()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34340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CA3AF"/>
                </a:solidFill>
                <a:latin typeface="Arial"/>
              </a:rPr>
              <a:t>pays accrued, refunds the 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892040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52F0"/>
                </a:solidFill>
                <a:latin typeface="Consolas"/>
              </a:rPr>
              <a:t>accrued()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89204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CA3AF"/>
                </a:solidFill>
                <a:latin typeface="Arial"/>
              </a:rPr>
              <a:t>view: earned since last claim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440680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52F0"/>
                </a:solidFill>
                <a:latin typeface="Consolas"/>
              </a:rPr>
              <a:t>runway()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5440680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CA3AF"/>
                </a:solidFill>
                <a:latin typeface="Arial"/>
              </a:rPr>
              <a:t>view: seconds of pay remaining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2011680"/>
            <a:ext cx="4983480" cy="1965960"/>
          </a:xfrm>
          <a:prstGeom prst="roundRect">
            <a:avLst>
              <a:gd name="adj" fmla="val 6000"/>
            </a:avLst>
          </a:prstGeom>
          <a:solidFill>
            <a:srgbClr val="111318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19456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5F5F5"/>
                </a:solidFill>
                <a:latin typeface="Arial"/>
              </a:rPr>
              <a:t>Design choices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697480"/>
            <a:ext cx="4343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1652F0"/>
                </a:solidFill>
                <a:latin typeface="Arial"/>
              </a:rPr>
              <a:t>- </a:t>
            </a:r>
            <a:r>
              <a:rPr sz="1250" b="0">
                <a:solidFill>
                  <a:srgbClr val="9CA3AF"/>
                </a:solidFill>
                <a:latin typeface="Arial"/>
              </a:rPr>
              <a:t>Per second accrual, capped at the deposit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1652F0"/>
                </a:solidFill>
                <a:latin typeface="Arial"/>
              </a:rPr>
              <a:t>- </a:t>
            </a:r>
            <a:r>
              <a:rPr sz="1250" b="0">
                <a:solidFill>
                  <a:srgbClr val="9CA3AF"/>
                </a:solidFill>
                <a:latin typeface="Arial"/>
              </a:rPr>
              <a:t>Reentrancy guarded state changing calls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1652F0"/>
                </a:solidFill>
                <a:latin typeface="Arial"/>
              </a:rPr>
              <a:t>- </a:t>
            </a:r>
            <a:r>
              <a:rPr sz="1250" b="0">
                <a:solidFill>
                  <a:srgbClr val="9CA3AF"/>
                </a:solidFill>
                <a:latin typeface="Arial"/>
              </a:rPr>
              <a:t>Employer and employee scoped access checks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1652F0"/>
                </a:solidFill>
                <a:latin typeface="Arial"/>
              </a:rPr>
              <a:t>- </a:t>
            </a:r>
            <a:r>
              <a:rPr sz="1250" b="0">
                <a:solidFill>
                  <a:srgbClr val="9CA3AF"/>
                </a:solidFill>
                <a:latin typeface="Arial"/>
              </a:rPr>
              <a:t>Auto deactivates when a deposit runs dry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4160520"/>
            <a:ext cx="4983480" cy="1965960"/>
          </a:xfrm>
          <a:prstGeom prst="roundRect">
            <a:avLst>
              <a:gd name="adj" fmla="val 6000"/>
            </a:avLst>
          </a:prstGeom>
          <a:solidFill>
            <a:srgbClr val="111318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434340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B7280"/>
                </a:solidFill>
                <a:latin typeface="Arial"/>
              </a:rPr>
              <a:t>Deployed on Arc Testnet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709160"/>
            <a:ext cx="4434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CA3AF"/>
                </a:solidFill>
                <a:latin typeface="Arial"/>
              </a:rPr>
              <a:t>PayrollManager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5029200"/>
            <a:ext cx="4434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652F0"/>
                </a:solidFill>
                <a:latin typeface="Consolas"/>
              </a:rPr>
              <a:t>0x667Bc462AA0Bc3e2...A580D560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5440680"/>
            <a:ext cx="4434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CA3AF"/>
                </a:solidFill>
                <a:latin typeface="Arial"/>
              </a:rPr>
              <a:t>USDC system token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5760720"/>
            <a:ext cx="4434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775CA"/>
                </a:solidFill>
                <a:latin typeface="Consolas"/>
              </a:rPr>
              <a:t>0x3600000000...00000000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355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onsolas"/>
              </a:rPr>
              <a:t>CONTRACT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355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onsolas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54864" cy="384048"/>
          </a:xfrm>
          <a:prstGeom prst="rect">
            <a:avLst/>
          </a:prstGeom>
          <a:solidFill>
            <a:srgbClr val="165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5F5"/>
                </a:solidFill>
                <a:latin typeface="Arial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CA3AF"/>
                </a:solidFill>
                <a:latin typeface="Arial"/>
              </a:rPr>
              <a:t>From a working testnet product to production payroll infrastructure.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520440" cy="3794760"/>
          </a:xfrm>
          <a:prstGeom prst="roundRect">
            <a:avLst>
              <a:gd name="adj" fmla="val 6000"/>
            </a:avLst>
          </a:prstGeom>
          <a:solidFill>
            <a:srgbClr val="111318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" y="2377440"/>
            <a:ext cx="54864" cy="36576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33172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ADE80"/>
                </a:solidFill>
                <a:latin typeface="Consolas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3464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5F5"/>
                </a:solidFill>
                <a:latin typeface="Arial"/>
              </a:rPr>
              <a:t>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74720"/>
            <a:ext cx="28803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4ADE80"/>
                </a:solidFill>
                <a:latin typeface="Arial"/>
              </a:rPr>
              <a:t>- </a:t>
            </a:r>
            <a:r>
              <a:rPr sz="1350" b="0">
                <a:solidFill>
                  <a:srgbClr val="9CA3AF"/>
                </a:solidFill>
                <a:latin typeface="Arial"/>
              </a:rPr>
              <a:t>Contract live on Arc Testnet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4ADE80"/>
                </a:solidFill>
                <a:latin typeface="Arial"/>
              </a:rPr>
              <a:t>- </a:t>
            </a:r>
            <a:r>
              <a:rPr sz="1350" b="0">
                <a:solidFill>
                  <a:srgbClr val="9CA3AF"/>
                </a:solidFill>
                <a:latin typeface="Arial"/>
              </a:rPr>
              <a:t>Both dashboards shipped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4ADE80"/>
                </a:solidFill>
                <a:latin typeface="Arial"/>
              </a:rPr>
              <a:t>- </a:t>
            </a:r>
            <a:r>
              <a:rPr sz="1350" b="0">
                <a:solidFill>
                  <a:srgbClr val="9CA3AF"/>
                </a:solidFill>
                <a:latin typeface="Arial"/>
              </a:rPr>
              <a:t>Core flows working end to end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4ADE80"/>
                </a:solidFill>
                <a:latin typeface="Arial"/>
              </a:rPr>
              <a:t>- </a:t>
            </a:r>
            <a:r>
              <a:rPr sz="1350" b="0">
                <a:solidFill>
                  <a:srgbClr val="9CA3AF"/>
                </a:solidFill>
                <a:latin typeface="Arial"/>
              </a:rPr>
              <a:t>Test suite passing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03120"/>
            <a:ext cx="3520440" cy="3794760"/>
          </a:xfrm>
          <a:prstGeom prst="roundRect">
            <a:avLst>
              <a:gd name="adj" fmla="val 6000"/>
            </a:avLst>
          </a:prstGeom>
          <a:solidFill>
            <a:srgbClr val="111318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2377440"/>
            <a:ext cx="54864" cy="365760"/>
          </a:xfrm>
          <a:prstGeom prst="rect">
            <a:avLst/>
          </a:prstGeom>
          <a:solidFill>
            <a:srgbClr val="165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233172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52F0"/>
                </a:solidFill>
                <a:latin typeface="Consolas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83464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5F5"/>
                </a:solidFill>
                <a:latin typeface="Arial"/>
              </a:rPr>
              <a:t>Hardening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474720"/>
            <a:ext cx="28803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1652F0"/>
                </a:solidFill>
                <a:latin typeface="Arial"/>
              </a:rPr>
              <a:t>- </a:t>
            </a:r>
            <a:r>
              <a:rPr sz="1350" b="0">
                <a:solidFill>
                  <a:srgbClr val="9CA3AF"/>
                </a:solidFill>
                <a:latin typeface="Arial"/>
              </a:rPr>
              <a:t>Payment history via event indexing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1652F0"/>
                </a:solidFill>
                <a:latin typeface="Arial"/>
              </a:rPr>
              <a:t>- </a:t>
            </a:r>
            <a:r>
              <a:rPr sz="1350" b="0">
                <a:solidFill>
                  <a:srgbClr val="9CA3AF"/>
                </a:solidFill>
                <a:latin typeface="Arial"/>
              </a:rPr>
              <a:t>Contract audit pass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1652F0"/>
                </a:solidFill>
                <a:latin typeface="Arial"/>
              </a:rPr>
              <a:t>- </a:t>
            </a:r>
            <a:r>
              <a:rPr sz="1350" b="0">
                <a:solidFill>
                  <a:srgbClr val="9CA3AF"/>
                </a:solidFill>
                <a:latin typeface="Arial"/>
              </a:rPr>
              <a:t>Dust and rounding refinement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1652F0"/>
                </a:solidFill>
                <a:latin typeface="Arial"/>
              </a:rPr>
              <a:t>- </a:t>
            </a:r>
            <a:r>
              <a:rPr sz="1350" b="0">
                <a:solidFill>
                  <a:srgbClr val="9CA3AF"/>
                </a:solidFill>
                <a:latin typeface="Arial"/>
              </a:rPr>
              <a:t>Onboarding and empty states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103120"/>
            <a:ext cx="3520440" cy="3794760"/>
          </a:xfrm>
          <a:prstGeom prst="roundRect">
            <a:avLst>
              <a:gd name="adj" fmla="val 6000"/>
            </a:avLst>
          </a:prstGeom>
          <a:solidFill>
            <a:srgbClr val="111318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58200" y="2377440"/>
            <a:ext cx="54864" cy="365760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233172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CA3AF"/>
                </a:solidFill>
                <a:latin typeface="Consolas"/>
              </a:rPr>
              <a:t>LATER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83464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5F5"/>
                </a:solidFill>
                <a:latin typeface="Arial"/>
              </a:rPr>
              <a:t>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474720"/>
            <a:ext cx="28803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9CA3AF"/>
                </a:solidFill>
                <a:latin typeface="Arial"/>
              </a:rPr>
              <a:t>- </a:t>
            </a:r>
            <a:r>
              <a:rPr sz="1350" b="0">
                <a:solidFill>
                  <a:srgbClr val="9CA3AF"/>
                </a:solidFill>
                <a:latin typeface="Arial"/>
              </a:rPr>
              <a:t>EURC and multi token streams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9CA3AF"/>
                </a:solidFill>
                <a:latin typeface="Arial"/>
              </a:rPr>
              <a:t>- </a:t>
            </a:r>
            <a:r>
              <a:rPr sz="1350" b="0">
                <a:solidFill>
                  <a:srgbClr val="9CA3AF"/>
                </a:solidFill>
                <a:latin typeface="Arial"/>
              </a:rPr>
              <a:t>Batch team payroll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9CA3AF"/>
                </a:solidFill>
                <a:latin typeface="Arial"/>
              </a:rPr>
              <a:t>- </a:t>
            </a:r>
            <a:r>
              <a:rPr sz="1350" b="0">
                <a:solidFill>
                  <a:srgbClr val="9CA3AF"/>
                </a:solidFill>
                <a:latin typeface="Arial"/>
              </a:rPr>
              <a:t>Mainnet deployment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9CA3AF"/>
                </a:solidFill>
                <a:latin typeface="Arial"/>
              </a:rPr>
              <a:t>- </a:t>
            </a:r>
            <a:r>
              <a:rPr sz="1350" b="0">
                <a:solidFill>
                  <a:srgbClr val="9CA3AF"/>
                </a:solidFill>
                <a:latin typeface="Arial"/>
              </a:rPr>
              <a:t>Employer analytics and exports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355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onsolas"/>
              </a:rPr>
              <a:t>ROADMAP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55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onsolas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65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49240" y="1371600"/>
            <a:ext cx="1463040" cy="1463040"/>
          </a:xfrm>
          <a:prstGeom prst="ellipse">
            <a:avLst/>
          </a:prstGeom>
          <a:solidFill>
            <a:srgbClr val="165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74690" y="1693469"/>
            <a:ext cx="212140" cy="819302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71109" y="1997050"/>
            <a:ext cx="819302" cy="2121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F5F5F5"/>
                </a:solidFill>
                <a:latin typeface="Arial"/>
              </a:rPr>
              <a:t>Cadence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652F0"/>
                </a:solidFill>
                <a:latin typeface="Arial"/>
              </a:rPr>
              <a:t>Real time payroll, live on Arc.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4709160"/>
            <a:ext cx="6400800" cy="1280160"/>
          </a:xfrm>
          <a:prstGeom prst="roundRect">
            <a:avLst>
              <a:gd name="adj" fmla="val 6000"/>
            </a:avLst>
          </a:prstGeom>
          <a:solidFill>
            <a:srgbClr val="111318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489204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6B7280"/>
                </a:solidFill>
                <a:latin typeface="Arial"/>
              </a:rPr>
              <a:t>Live app    </a:t>
            </a:r>
            <a:r>
              <a:rPr sz="1300" b="0">
                <a:solidFill>
                  <a:srgbClr val="1652F0"/>
                </a:solidFill>
                <a:latin typeface="Consolas"/>
              </a:rPr>
              <a:t>cadence-phi-ochre.vercel.app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525780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6B7280"/>
                </a:solidFill>
                <a:latin typeface="Arial"/>
              </a:rPr>
              <a:t>Code        </a:t>
            </a:r>
            <a:r>
              <a:rPr sz="1300" b="0">
                <a:solidFill>
                  <a:srgbClr val="F5F5F5"/>
                </a:solidFill>
                <a:latin typeface="Consolas"/>
              </a:rPr>
              <a:t>github.com/dotmantissa/cadence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562356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6B7280"/>
                </a:solidFill>
                <a:latin typeface="Arial"/>
              </a:rPr>
              <a:t>Network     </a:t>
            </a:r>
            <a:r>
              <a:rPr sz="1300" b="0">
                <a:solidFill>
                  <a:srgbClr val="9CA3AF"/>
                </a:solidFill>
                <a:latin typeface="Consolas"/>
              </a:rPr>
              <a:t>Arc Testnet, Chain 5042002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