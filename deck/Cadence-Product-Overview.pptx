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49731930" y="77026772"/>
            <a:ext cx="119443500" cy="44005498"/>
          </a:xfrm>
          <a:custGeom>
            <a:avLst/>
            <a:gdLst/>
            <a:ahLst/>
            <a:cxnLst/>
            <a:rect l="l" t="t" r="r" b="b"/>
            <a:pathLst>
              <a:path w="119443500" h="44005498">
                <a:moveTo>
                  <a:pt x="0" y="44005498"/>
                </a:moveTo>
                <a:lnTo>
                  <a:pt x="2488406" y="43582610"/>
                </a:lnTo>
                <a:lnTo>
                  <a:pt x="4976812" y="42330203"/>
                </a:lnTo>
                <a:lnTo>
                  <a:pt x="7465219" y="40296418"/>
                </a:lnTo>
                <a:lnTo>
                  <a:pt x="9953625" y="37559434"/>
                </a:lnTo>
                <a:lnTo>
                  <a:pt x="12442031" y="34224457"/>
                </a:lnTo>
                <a:lnTo>
                  <a:pt x="14930438" y="30419684"/>
                </a:lnTo>
                <a:lnTo>
                  <a:pt x="17418844" y="26291368"/>
                </a:lnTo>
                <a:lnTo>
                  <a:pt x="19907250" y="21998200"/>
                </a:lnTo>
                <a:lnTo>
                  <a:pt x="22395656" y="17705206"/>
                </a:lnTo>
                <a:lnTo>
                  <a:pt x="24884062" y="13577408"/>
                </a:lnTo>
                <a:lnTo>
                  <a:pt x="27372469" y="9773475"/>
                </a:lnTo>
                <a:lnTo>
                  <a:pt x="29860875" y="6439631"/>
                </a:lnTo>
                <a:lnTo>
                  <a:pt x="32349281" y="3704025"/>
                </a:lnTo>
                <a:lnTo>
                  <a:pt x="34837688" y="1671813"/>
                </a:lnTo>
                <a:lnTo>
                  <a:pt x="37326094" y="421113"/>
                </a:lnTo>
                <a:lnTo>
                  <a:pt x="39814500" y="0"/>
                </a:lnTo>
                <a:lnTo>
                  <a:pt x="42302906" y="424662"/>
                </a:lnTo>
                <a:lnTo>
                  <a:pt x="44791312" y="1678776"/>
                </a:lnTo>
                <a:lnTo>
                  <a:pt x="47279719" y="3714134"/>
                </a:lnTo>
                <a:lnTo>
                  <a:pt x="49768125" y="6452497"/>
                </a:lnTo>
                <a:lnTo>
                  <a:pt x="52256531" y="9788604"/>
                </a:lnTo>
                <a:lnTo>
                  <a:pt x="54744938" y="13594218"/>
                </a:lnTo>
                <a:lnTo>
                  <a:pt x="57233344" y="17723051"/>
                </a:lnTo>
                <a:lnTo>
                  <a:pt x="59721750" y="22016393"/>
                </a:lnTo>
                <a:lnTo>
                  <a:pt x="62210156" y="26309211"/>
                </a:lnTo>
                <a:lnTo>
                  <a:pt x="64698562" y="30436491"/>
                </a:lnTo>
                <a:lnTo>
                  <a:pt x="67186969" y="34239582"/>
                </a:lnTo>
                <a:lnTo>
                  <a:pt x="69675375" y="37572294"/>
                </a:lnTo>
                <a:lnTo>
                  <a:pt x="72163781" y="40306521"/>
                </a:lnTo>
                <a:lnTo>
                  <a:pt x="74652188" y="42337160"/>
                </a:lnTo>
                <a:lnTo>
                  <a:pt x="77140594" y="43586153"/>
                </a:lnTo>
                <a:lnTo>
                  <a:pt x="79629000" y="44005490"/>
                </a:lnTo>
                <a:lnTo>
                  <a:pt x="82117406" y="43579053"/>
                </a:lnTo>
                <a:lnTo>
                  <a:pt x="84605812" y="42323233"/>
                </a:lnTo>
                <a:lnTo>
                  <a:pt x="87094219" y="40286303"/>
                </a:lnTo>
                <a:lnTo>
                  <a:pt x="89582625" y="37546562"/>
                </a:lnTo>
                <a:lnTo>
                  <a:pt x="92071031" y="34209324"/>
                </a:lnTo>
                <a:lnTo>
                  <a:pt x="94559438" y="30402871"/>
                </a:lnTo>
                <a:lnTo>
                  <a:pt x="97047844" y="26273522"/>
                </a:lnTo>
                <a:lnTo>
                  <a:pt x="99536250" y="21980006"/>
                </a:lnTo>
                <a:lnTo>
                  <a:pt x="102024656" y="17687364"/>
                </a:lnTo>
                <a:lnTo>
                  <a:pt x="104513062" y="13560604"/>
                </a:lnTo>
                <a:lnTo>
                  <a:pt x="107001469" y="9758355"/>
                </a:lnTo>
                <a:lnTo>
                  <a:pt x="109489875" y="6426775"/>
                </a:lnTo>
                <a:lnTo>
                  <a:pt x="111978281" y="3693928"/>
                </a:lnTo>
                <a:lnTo>
                  <a:pt x="114466688" y="1664863"/>
                </a:lnTo>
                <a:lnTo>
                  <a:pt x="116955094" y="417577"/>
                </a:lnTo>
                <a:lnTo>
                  <a:pt x="119443500" y="15"/>
                </a:lnTo>
              </a:path>
            </a:pathLst>
          </a:custGeom>
          <a:noFill/>
          <a:ln w="2514600" cap="rnd">
            <a:solidFill>
              <a:srgbClr val="EDED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77240" y="841248"/>
            <a:ext cx="2889504" cy="310896"/>
          </a:xfrm>
          <a:prstGeom prst="roundRect">
            <a:avLst>
              <a:gd name="adj" fmla="val 50000"/>
            </a:avLst>
          </a:prstGeom>
          <a:solidFill>
            <a:srgbClr val="E7E8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800" b="0" i="0">
                <a:solidFill>
                  <a:srgbClr val="2B44E7"/>
                </a:solidFill>
                <a:latin typeface="Arial"/>
              </a:rPr>
              <a:t>● </a:t>
            </a:r>
            <a:r>
              <a:rPr sz="950" b="1" i="0" spc="40">
                <a:solidFill>
                  <a:srgbClr val="2B44E7"/>
                </a:solidFill>
                <a:latin typeface="Arial"/>
              </a:rPr>
              <a:t>Live on Arc Testnet</a:t>
            </a:r>
          </a:p>
        </p:txBody>
      </p:sp>
      <p:sp>
        <p:nvSpPr>
          <p:cNvPr id="19" name="Rounded Rectangle 18"/>
          <p:cNvSpPr/>
          <p:nvPr/>
        </p:nvSpPr>
        <p:spPr>
          <a:xfrm>
            <a:off x="777240" y="1554480"/>
            <a:ext cx="841248" cy="841248"/>
          </a:xfrm>
          <a:prstGeom prst="roundRect">
            <a:avLst>
              <a:gd name="adj" fmla="val 25000"/>
            </a:avLst>
          </a:prstGeom>
          <a:solidFill>
            <a:srgbClr val="17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948118" y="1883092"/>
            <a:ext cx="499491" cy="184024"/>
          </a:xfrm>
          <a:custGeom>
            <a:avLst/>
            <a:gdLst/>
            <a:ahLst/>
            <a:cxnLst/>
            <a:rect l="l" t="t" r="r" b="b"/>
            <a:pathLst>
              <a:path w="499491" h="184024">
                <a:moveTo>
                  <a:pt x="0" y="184024"/>
                </a:moveTo>
                <a:lnTo>
                  <a:pt x="10406" y="182256"/>
                </a:lnTo>
                <a:lnTo>
                  <a:pt x="20812" y="177018"/>
                </a:lnTo>
                <a:lnTo>
                  <a:pt x="31218" y="168513"/>
                </a:lnTo>
                <a:lnTo>
                  <a:pt x="41624" y="157068"/>
                </a:lnTo>
                <a:lnTo>
                  <a:pt x="52030" y="143121"/>
                </a:lnTo>
                <a:lnTo>
                  <a:pt x="62436" y="127210"/>
                </a:lnTo>
                <a:lnTo>
                  <a:pt x="72842" y="109946"/>
                </a:lnTo>
                <a:lnTo>
                  <a:pt x="83248" y="91993"/>
                </a:lnTo>
                <a:lnTo>
                  <a:pt x="93655" y="74040"/>
                </a:lnTo>
                <a:lnTo>
                  <a:pt x="104061" y="56778"/>
                </a:lnTo>
                <a:lnTo>
                  <a:pt x="114467" y="40871"/>
                </a:lnTo>
                <a:lnTo>
                  <a:pt x="124873" y="26929"/>
                </a:lnTo>
                <a:lnTo>
                  <a:pt x="135279" y="15490"/>
                </a:lnTo>
                <a:lnTo>
                  <a:pt x="145685" y="6991"/>
                </a:lnTo>
                <a:lnTo>
                  <a:pt x="156091" y="1761"/>
                </a:lnTo>
                <a:lnTo>
                  <a:pt x="166497" y="0"/>
                </a:lnTo>
                <a:lnTo>
                  <a:pt x="176903" y="1776"/>
                </a:lnTo>
                <a:lnTo>
                  <a:pt x="187309" y="7020"/>
                </a:lnTo>
                <a:lnTo>
                  <a:pt x="197715" y="15532"/>
                </a:lnTo>
                <a:lnTo>
                  <a:pt x="208121" y="26983"/>
                </a:lnTo>
                <a:lnTo>
                  <a:pt x="218527" y="40935"/>
                </a:lnTo>
                <a:lnTo>
                  <a:pt x="228933" y="56849"/>
                </a:lnTo>
                <a:lnTo>
                  <a:pt x="239339" y="74115"/>
                </a:lnTo>
                <a:lnTo>
                  <a:pt x="249746" y="92069"/>
                </a:lnTo>
                <a:lnTo>
                  <a:pt x="260152" y="110021"/>
                </a:lnTo>
                <a:lnTo>
                  <a:pt x="270558" y="127281"/>
                </a:lnTo>
                <a:lnTo>
                  <a:pt x="280964" y="143185"/>
                </a:lnTo>
                <a:lnTo>
                  <a:pt x="291370" y="157122"/>
                </a:lnTo>
                <a:lnTo>
                  <a:pt x="301776" y="168556"/>
                </a:lnTo>
                <a:lnTo>
                  <a:pt x="312182" y="177047"/>
                </a:lnTo>
                <a:lnTo>
                  <a:pt x="322588" y="182270"/>
                </a:lnTo>
                <a:lnTo>
                  <a:pt x="332994" y="184024"/>
                </a:lnTo>
                <a:lnTo>
                  <a:pt x="343400" y="182241"/>
                </a:lnTo>
                <a:lnTo>
                  <a:pt x="353806" y="176989"/>
                </a:lnTo>
                <a:lnTo>
                  <a:pt x="364212" y="168471"/>
                </a:lnTo>
                <a:lnTo>
                  <a:pt x="374618" y="157014"/>
                </a:lnTo>
                <a:lnTo>
                  <a:pt x="385024" y="143058"/>
                </a:lnTo>
                <a:lnTo>
                  <a:pt x="395430" y="127140"/>
                </a:lnTo>
                <a:lnTo>
                  <a:pt x="405836" y="109871"/>
                </a:lnTo>
                <a:lnTo>
                  <a:pt x="416242" y="91916"/>
                </a:lnTo>
                <a:lnTo>
                  <a:pt x="426649" y="73965"/>
                </a:lnTo>
                <a:lnTo>
                  <a:pt x="437055" y="56708"/>
                </a:lnTo>
                <a:lnTo>
                  <a:pt x="447461" y="40808"/>
                </a:lnTo>
                <a:lnTo>
                  <a:pt x="457867" y="26875"/>
                </a:lnTo>
                <a:lnTo>
                  <a:pt x="468273" y="15447"/>
                </a:lnTo>
                <a:lnTo>
                  <a:pt x="478679" y="6962"/>
                </a:lnTo>
                <a:lnTo>
                  <a:pt x="489085" y="1746"/>
                </a:lnTo>
                <a:lnTo>
                  <a:pt x="499491" y="0"/>
                </a:lnTo>
              </a:path>
            </a:pathLst>
          </a:custGeom>
          <a:noFill/>
          <a:ln w="80619" cap="rnd">
            <a:solidFill>
              <a:srgbClr val="2B44E7"/>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83080" y="1591056"/>
            <a:ext cx="5486400" cy="914400"/>
          </a:xfrm>
          <a:prstGeom prst="rect">
            <a:avLst/>
          </a:prstGeom>
          <a:noFill/>
        </p:spPr>
        <p:txBody>
          <a:bodyPr wrap="square" anchor="ctr" lIns="0" rIns="0" tIns="0" bIns="0">
            <a:spAutoFit/>
          </a:bodyPr>
          <a:lstStyle/>
          <a:p>
            <a:pPr algn="l">
              <a:lnSpc>
                <a:spcPct val="100000"/>
              </a:lnSpc>
            </a:pPr>
            <a:r>
              <a:rPr sz="4000" b="1" i="0">
                <a:solidFill>
                  <a:srgbClr val="171618"/>
                </a:solidFill>
                <a:latin typeface="Arial"/>
              </a:rPr>
              <a:t>Cadence</a:t>
            </a:r>
          </a:p>
        </p:txBody>
      </p:sp>
      <p:sp>
        <p:nvSpPr>
          <p:cNvPr id="22" name="TextBox 21"/>
          <p:cNvSpPr txBox="1"/>
          <p:nvPr/>
        </p:nvSpPr>
        <p:spPr>
          <a:xfrm>
            <a:off x="758952" y="2880360"/>
            <a:ext cx="10424160" cy="1828800"/>
          </a:xfrm>
          <a:prstGeom prst="rect">
            <a:avLst/>
          </a:prstGeom>
          <a:noFill/>
        </p:spPr>
        <p:txBody>
          <a:bodyPr wrap="square" anchor="t" lIns="0" rIns="0" tIns="0" bIns="0">
            <a:spAutoFit/>
          </a:bodyPr>
          <a:lstStyle/>
          <a:p>
            <a:pPr algn="l">
              <a:lnSpc>
                <a:spcPct val="98000"/>
              </a:lnSpc>
            </a:pPr>
            <a:r>
              <a:rPr sz="5200" b="1" i="0">
                <a:solidFill>
                  <a:srgbClr val="171618"/>
                </a:solidFill>
                <a:latin typeface="Arial"/>
              </a:rPr>
              <a:t>Payments that move </a:t>
            </a:r>
            <a:r>
              <a:rPr sz="5200" b="0" i="1">
                <a:solidFill>
                  <a:srgbClr val="2B44E7"/>
                </a:solidFill>
                <a:latin typeface="Georgia"/>
              </a:rPr>
              <a:t>while you read this</a:t>
            </a:r>
          </a:p>
        </p:txBody>
      </p:sp>
      <p:sp>
        <p:nvSpPr>
          <p:cNvPr id="23" name="TextBox 22"/>
          <p:cNvSpPr txBox="1"/>
          <p:nvPr/>
        </p:nvSpPr>
        <p:spPr>
          <a:xfrm>
            <a:off x="777240" y="4526280"/>
            <a:ext cx="8595360" cy="1097280"/>
          </a:xfrm>
          <a:prstGeom prst="rect">
            <a:avLst/>
          </a:prstGeom>
          <a:noFill/>
        </p:spPr>
        <p:txBody>
          <a:bodyPr wrap="square" anchor="t" lIns="0" rIns="0" tIns="0" bIns="0">
            <a:spAutoFit/>
          </a:bodyPr>
          <a:lstStyle/>
          <a:p>
            <a:pPr algn="l">
              <a:lnSpc>
                <a:spcPct val="120000"/>
              </a:lnSpc>
            </a:pPr>
            <a:r>
              <a:rPr sz="1550" b="0" i="0">
                <a:solidFill>
                  <a:srgbClr val="757474"/>
                </a:solidFill>
                <a:latin typeface="Arial"/>
              </a:rPr>
              <a:t>Fund a stream once and whoever you pay earns by the second. They watch the balance climb and cash out whenever they want, with no pay run and no one holding the money but the contract.</a:t>
            </a:r>
          </a:p>
        </p:txBody>
      </p:sp>
      <p:sp>
        <p:nvSpPr>
          <p:cNvPr id="24" name="TextBox 23"/>
          <p:cNvSpPr txBox="1"/>
          <p:nvPr/>
        </p:nvSpPr>
        <p:spPr>
          <a:xfrm>
            <a:off x="777240" y="6053328"/>
            <a:ext cx="10607040" cy="365760"/>
          </a:xfrm>
          <a:prstGeom prst="rect">
            <a:avLst/>
          </a:prstGeom>
          <a:noFill/>
        </p:spPr>
        <p:txBody>
          <a:bodyPr wrap="square" anchor="t" lIns="0" rIns="0" tIns="0" bIns="0">
            <a:spAutoFit/>
          </a:bodyPr>
          <a:lstStyle/>
          <a:p>
            <a:pPr algn="l">
              <a:lnSpc>
                <a:spcPct val="100000"/>
              </a:lnSpc>
            </a:pPr>
            <a:r>
              <a:rPr sz="1100" b="1" i="0">
                <a:solidFill>
                  <a:srgbClr val="171618"/>
                </a:solidFill>
                <a:latin typeface="Consolas"/>
              </a:rPr>
              <a:t>cadenceonarc.tech</a:t>
            </a:r>
            <a:r>
              <a:rPr sz="1100" b="0" i="0">
                <a:solidFill>
                  <a:srgbClr val="908F8E"/>
                </a:solidFill>
                <a:latin typeface="Arial"/>
              </a:rPr>
              <a:t>        Real-time USDC payments on Arc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THE PROBLEM</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800" b="1" i="0">
                <a:solidFill>
                  <a:srgbClr val="171618"/>
                </a:solidFill>
                <a:latin typeface="Arial"/>
              </a:rPr>
              <a:t>Money is batched by time.</a:t>
            </a:r>
          </a:p>
        </p:txBody>
      </p:sp>
      <p:sp>
        <p:nvSpPr>
          <p:cNvPr id="19" name="Oval 18"/>
          <p:cNvSpPr/>
          <p:nvPr/>
        </p:nvSpPr>
        <p:spPr>
          <a:xfrm>
            <a:off x="777240" y="238201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331720"/>
            <a:ext cx="1016812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You work continuously,  </a:t>
            </a:r>
            <a:r>
              <a:rPr sz="1450" b="0" i="0">
                <a:solidFill>
                  <a:srgbClr val="757474"/>
                </a:solidFill>
                <a:latin typeface="Arial"/>
              </a:rPr>
              <a:t>but pay arrives in a lump on a date a calendar decides, often long after it was earned.</a:t>
            </a:r>
          </a:p>
        </p:txBody>
      </p:sp>
      <p:sp>
        <p:nvSpPr>
          <p:cNvPr id="21" name="Oval 20"/>
          <p:cNvSpPr/>
          <p:nvPr/>
        </p:nvSpPr>
        <p:spPr>
          <a:xfrm>
            <a:off x="777240" y="3058668"/>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3008376"/>
            <a:ext cx="1016812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Until then it is not yours.  </a:t>
            </a:r>
            <a:r>
              <a:rPr sz="1450" b="0" i="0">
                <a:solidFill>
                  <a:srgbClr val="757474"/>
                </a:solidFill>
                <a:latin typeface="Arial"/>
              </a:rPr>
              <a:t>The money sits in someone else's account, and getting it sooner means an advance, an overdraft, or a loan.</a:t>
            </a:r>
          </a:p>
        </p:txBody>
      </p:sp>
      <p:sp>
        <p:nvSpPr>
          <p:cNvPr id="23" name="Oval 22"/>
          <p:cNvSpPr/>
          <p:nvPr/>
        </p:nvSpPr>
        <p:spPr>
          <a:xfrm>
            <a:off x="777240" y="3735324"/>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3685032"/>
            <a:ext cx="1016812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The paying side is no better.  </a:t>
            </a:r>
            <a:r>
              <a:rPr sz="1450" b="0" i="0">
                <a:solidFill>
                  <a:srgbClr val="757474"/>
                </a:solidFill>
                <a:latin typeface="Arial"/>
              </a:rPr>
              <a:t>Money leaves in a batch, reconciled by hand, with no live view of how far the balance stretches.</a:t>
            </a:r>
          </a:p>
        </p:txBody>
      </p:sp>
      <p:sp>
        <p:nvSpPr>
          <p:cNvPr id="25" name="Oval 24"/>
          <p:cNvSpPr/>
          <p:nvPr/>
        </p:nvSpPr>
        <p:spPr>
          <a:xfrm>
            <a:off x="777240" y="4411980"/>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2" y="4361688"/>
            <a:ext cx="1016812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Crossing a border adds more.  </a:t>
            </a:r>
            <a:r>
              <a:rPr sz="1450" b="0" i="0">
                <a:solidFill>
                  <a:srgbClr val="757474"/>
                </a:solidFill>
                <a:latin typeface="Arial"/>
              </a:rPr>
              <a:t>Banking rails, currency conversion, and multi-day settlement stack on top of everything above.</a:t>
            </a:r>
          </a:p>
        </p:txBody>
      </p:sp>
      <p:sp>
        <p:nvSpPr>
          <p:cNvPr id="27" name="TextBox 26"/>
          <p:cNvSpPr txBox="1"/>
          <p:nvPr/>
        </p:nvSpPr>
        <p:spPr>
          <a:xfrm>
            <a:off x="777240" y="5440680"/>
            <a:ext cx="10058400" cy="640080"/>
          </a:xfrm>
          <a:prstGeom prst="rect">
            <a:avLst/>
          </a:prstGeom>
          <a:noFill/>
        </p:spPr>
        <p:txBody>
          <a:bodyPr wrap="square" anchor="t" lIns="0" rIns="0" tIns="0" bIns="0">
            <a:spAutoFit/>
          </a:bodyPr>
          <a:lstStyle/>
          <a:p>
            <a:pPr algn="l">
              <a:lnSpc>
                <a:spcPct val="100000"/>
              </a:lnSpc>
            </a:pPr>
            <a:r>
              <a:rPr sz="1800" b="1" i="0">
                <a:solidFill>
                  <a:srgbClr val="171618"/>
                </a:solidFill>
                <a:latin typeface="Arial"/>
              </a:rPr>
              <a:t>The root of all of it is that money is batched by time. </a:t>
            </a:r>
            <a:r>
              <a:rPr sz="1800" b="0" i="1">
                <a:solidFill>
                  <a:srgbClr val="2B44E7"/>
                </a:solidFill>
                <a:latin typeface="Georgia"/>
              </a:rPr>
              <a:t>Cadence unbatches it.</a:t>
            </a:r>
          </a:p>
        </p:txBody>
      </p:sp>
      <p:sp>
        <p:nvSpPr>
          <p:cNvPr id="28" name="Rectangle 27"/>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0" name="TextBox 29"/>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WHAT IT IS</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One stream, paid by the second.</a:t>
            </a:r>
          </a:p>
        </p:txBody>
      </p:sp>
      <p:sp>
        <p:nvSpPr>
          <p:cNvPr id="19" name="TextBox 18"/>
          <p:cNvSpPr txBox="1"/>
          <p:nvPr/>
        </p:nvSpPr>
        <p:spPr>
          <a:xfrm>
            <a:off x="777240" y="2148840"/>
            <a:ext cx="10332720" cy="914400"/>
          </a:xfrm>
          <a:prstGeom prst="rect">
            <a:avLst/>
          </a:prstGeom>
          <a:noFill/>
        </p:spPr>
        <p:txBody>
          <a:bodyPr wrap="square" anchor="t" lIns="0" rIns="0" tIns="0" bIns="0">
            <a:spAutoFit/>
          </a:bodyPr>
          <a:lstStyle/>
          <a:p>
            <a:pPr algn="l">
              <a:lnSpc>
                <a:spcPct val="120000"/>
              </a:lnSpc>
            </a:pPr>
            <a:r>
              <a:rPr sz="1500" b="0" i="0">
                <a:solidFill>
                  <a:srgbClr val="757474"/>
                </a:solidFill>
                <a:latin typeface="Arial"/>
              </a:rPr>
              <a:t>Cadence streams USDC continuously from payer to payee. The moment a stream opens, money starts flowing to the payee's wallet, and they can withdraw whatever they have earned at any point.</a:t>
            </a:r>
          </a:p>
        </p:txBody>
      </p:sp>
      <p:sp>
        <p:nvSpPr>
          <p:cNvPr id="20" name="Rounded Rectangle 19"/>
          <p:cNvSpPr/>
          <p:nvPr/>
        </p:nvSpPr>
        <p:spPr>
          <a:xfrm>
            <a:off x="777240" y="3429000"/>
            <a:ext cx="3346704" cy="2286000"/>
          </a:xfrm>
          <a:prstGeom prst="roundRect">
            <a:avLst>
              <a:gd name="adj" fmla="val 6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9848" y="3675888"/>
            <a:ext cx="2798064" cy="457200"/>
          </a:xfrm>
          <a:prstGeom prst="rect">
            <a:avLst/>
          </a:prstGeom>
          <a:noFill/>
        </p:spPr>
        <p:txBody>
          <a:bodyPr wrap="square" anchor="t" lIns="0" rIns="0" tIns="0" bIns="0">
            <a:spAutoFit/>
          </a:bodyPr>
          <a:lstStyle/>
          <a:p>
            <a:pPr algn="l">
              <a:lnSpc>
                <a:spcPct val="100000"/>
              </a:lnSpc>
            </a:pPr>
            <a:r>
              <a:rPr sz="1700" b="1" i="0">
                <a:solidFill>
                  <a:srgbClr val="171618"/>
                </a:solidFill>
                <a:latin typeface="Arial"/>
              </a:rPr>
              <a:t>No middleman</a:t>
            </a:r>
          </a:p>
        </p:txBody>
      </p:sp>
      <p:sp>
        <p:nvSpPr>
          <p:cNvPr id="22" name="TextBox 21"/>
          <p:cNvSpPr txBox="1"/>
          <p:nvPr/>
        </p:nvSpPr>
        <p:spPr>
          <a:xfrm>
            <a:off x="1069848" y="4224528"/>
            <a:ext cx="2798064" cy="1371600"/>
          </a:xfrm>
          <a:prstGeom prst="rect">
            <a:avLst/>
          </a:prstGeom>
          <a:noFill/>
        </p:spPr>
        <p:txBody>
          <a:bodyPr wrap="square" anchor="t" lIns="0" rIns="0" tIns="0" bIns="0">
            <a:spAutoFit/>
          </a:bodyPr>
          <a:lstStyle/>
          <a:p>
            <a:pPr algn="l">
              <a:lnSpc>
                <a:spcPct val="114000"/>
              </a:lnSpc>
            </a:pPr>
            <a:r>
              <a:rPr sz="1250" b="0" i="0">
                <a:solidFill>
                  <a:srgbClr val="757474"/>
                </a:solidFill>
                <a:latin typeface="Arial"/>
              </a:rPr>
              <a:t>A smart contract holds the escrow and releases it second by second. No company sits in the middle holding the money or changing the terms.</a:t>
            </a:r>
          </a:p>
        </p:txBody>
      </p:sp>
      <p:sp>
        <p:nvSpPr>
          <p:cNvPr id="23" name="Rounded Rectangle 22"/>
          <p:cNvSpPr/>
          <p:nvPr/>
        </p:nvSpPr>
        <p:spPr>
          <a:xfrm>
            <a:off x="4306824" y="3429000"/>
            <a:ext cx="3346704" cy="2286000"/>
          </a:xfrm>
          <a:prstGeom prst="roundRect">
            <a:avLst>
              <a:gd name="adj" fmla="val 6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9432" y="3675888"/>
            <a:ext cx="2798064" cy="457200"/>
          </a:xfrm>
          <a:prstGeom prst="rect">
            <a:avLst/>
          </a:prstGeom>
          <a:noFill/>
        </p:spPr>
        <p:txBody>
          <a:bodyPr wrap="square" anchor="t" lIns="0" rIns="0" tIns="0" bIns="0">
            <a:spAutoFit/>
          </a:bodyPr>
          <a:lstStyle/>
          <a:p>
            <a:pPr algn="l">
              <a:lnSpc>
                <a:spcPct val="100000"/>
              </a:lnSpc>
            </a:pPr>
            <a:r>
              <a:rPr sz="1700" b="1" i="0">
                <a:solidFill>
                  <a:srgbClr val="171618"/>
                </a:solidFill>
                <a:latin typeface="Arial"/>
              </a:rPr>
              <a:t>Earned means yours</a:t>
            </a:r>
          </a:p>
        </p:txBody>
      </p:sp>
      <p:sp>
        <p:nvSpPr>
          <p:cNvPr id="25" name="TextBox 24"/>
          <p:cNvSpPr txBox="1"/>
          <p:nvPr/>
        </p:nvSpPr>
        <p:spPr>
          <a:xfrm>
            <a:off x="4599432" y="4224528"/>
            <a:ext cx="2798064" cy="1371600"/>
          </a:xfrm>
          <a:prstGeom prst="rect">
            <a:avLst/>
          </a:prstGeom>
          <a:noFill/>
        </p:spPr>
        <p:txBody>
          <a:bodyPr wrap="square" anchor="t" lIns="0" rIns="0" tIns="0" bIns="0">
            <a:spAutoFit/>
          </a:bodyPr>
          <a:lstStyle/>
          <a:p>
            <a:pPr algn="l">
              <a:lnSpc>
                <a:spcPct val="114000"/>
              </a:lnSpc>
            </a:pPr>
            <a:r>
              <a:rPr sz="1250" b="0" i="0">
                <a:solidFill>
                  <a:srgbClr val="757474"/>
                </a:solidFill>
                <a:latin typeface="Arial"/>
              </a:rPr>
              <a:t>Withdrawn value is already on-chain. Cash out anytime, with no pay run and nothing to wait on.</a:t>
            </a:r>
          </a:p>
        </p:txBody>
      </p:sp>
      <p:sp>
        <p:nvSpPr>
          <p:cNvPr id="26" name="Rounded Rectangle 25"/>
          <p:cNvSpPr/>
          <p:nvPr/>
        </p:nvSpPr>
        <p:spPr>
          <a:xfrm>
            <a:off x="7836408" y="3429000"/>
            <a:ext cx="3346704" cy="2286000"/>
          </a:xfrm>
          <a:prstGeom prst="roundRect">
            <a:avLst>
              <a:gd name="adj" fmla="val 6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29016" y="3675888"/>
            <a:ext cx="2798064" cy="457200"/>
          </a:xfrm>
          <a:prstGeom prst="rect">
            <a:avLst/>
          </a:prstGeom>
          <a:noFill/>
        </p:spPr>
        <p:txBody>
          <a:bodyPr wrap="square" anchor="t" lIns="0" rIns="0" tIns="0" bIns="0">
            <a:spAutoFit/>
          </a:bodyPr>
          <a:lstStyle/>
          <a:p>
            <a:pPr algn="l">
              <a:lnSpc>
                <a:spcPct val="100000"/>
              </a:lnSpc>
            </a:pPr>
            <a:r>
              <a:rPr sz="1700" b="1" i="0">
                <a:solidFill>
                  <a:srgbClr val="171618"/>
                </a:solidFill>
                <a:latin typeface="Arial"/>
              </a:rPr>
              <a:t>Same everywhere</a:t>
            </a:r>
          </a:p>
        </p:txBody>
      </p:sp>
      <p:sp>
        <p:nvSpPr>
          <p:cNvPr id="28" name="TextBox 27"/>
          <p:cNvSpPr txBox="1"/>
          <p:nvPr/>
        </p:nvSpPr>
        <p:spPr>
          <a:xfrm>
            <a:off x="8129016" y="4224528"/>
            <a:ext cx="2798064" cy="1371600"/>
          </a:xfrm>
          <a:prstGeom prst="rect">
            <a:avLst/>
          </a:prstGeom>
          <a:noFill/>
        </p:spPr>
        <p:txBody>
          <a:bodyPr wrap="square" anchor="t" lIns="0" rIns="0" tIns="0" bIns="0">
            <a:spAutoFit/>
          </a:bodyPr>
          <a:lstStyle/>
          <a:p>
            <a:pPr algn="l">
              <a:lnSpc>
                <a:spcPct val="114000"/>
              </a:lnSpc>
            </a:pPr>
            <a:r>
              <a:rPr sz="1250" b="0" i="0">
                <a:solidFill>
                  <a:srgbClr val="757474"/>
                </a:solidFill>
                <a:latin typeface="Arial"/>
              </a:rPr>
              <a:t>A stream to someone across the world settles like one next door, in USDC on Arc.</a:t>
            </a:r>
          </a:p>
        </p:txBody>
      </p:sp>
      <p:sp>
        <p:nvSpPr>
          <p:cNvPr id="29" name="Rectangle 28"/>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1" name="TextBox 30"/>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THE WHOLE FLOW</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Four steps. None of them a bank.</a:t>
            </a:r>
          </a:p>
        </p:txBody>
      </p:sp>
      <p:sp>
        <p:nvSpPr>
          <p:cNvPr id="19" name="Rounded Rectangle 18"/>
          <p:cNvSpPr/>
          <p:nvPr/>
        </p:nvSpPr>
        <p:spPr>
          <a:xfrm>
            <a:off x="777240" y="2286000"/>
            <a:ext cx="5193792" cy="1572768"/>
          </a:xfrm>
          <a:prstGeom prst="roundRect">
            <a:avLst>
              <a:gd name="adj" fmla="val 5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88136" y="2523744"/>
            <a:ext cx="1005840" cy="1097280"/>
          </a:xfrm>
          <a:prstGeom prst="rect">
            <a:avLst/>
          </a:prstGeom>
          <a:noFill/>
        </p:spPr>
        <p:txBody>
          <a:bodyPr wrap="square" anchor="t" lIns="0" rIns="0" tIns="0" bIns="0">
            <a:spAutoFit/>
          </a:bodyPr>
          <a:lstStyle/>
          <a:p>
            <a:pPr algn="l">
              <a:lnSpc>
                <a:spcPct val="100000"/>
              </a:lnSpc>
            </a:pPr>
            <a:r>
              <a:rPr sz="3000" b="1" i="0">
                <a:solidFill>
                  <a:srgbClr val="95A2F3"/>
                </a:solidFill>
                <a:latin typeface="Consolas"/>
              </a:rPr>
              <a:t>01</a:t>
            </a:r>
          </a:p>
        </p:txBody>
      </p:sp>
      <p:sp>
        <p:nvSpPr>
          <p:cNvPr id="21" name="TextBox 20"/>
          <p:cNvSpPr txBox="1"/>
          <p:nvPr/>
        </p:nvSpPr>
        <p:spPr>
          <a:xfrm>
            <a:off x="2148840" y="2523744"/>
            <a:ext cx="3547872" cy="457200"/>
          </a:xfrm>
          <a:prstGeom prst="rect">
            <a:avLst/>
          </a:prstGeom>
          <a:noFill/>
        </p:spPr>
        <p:txBody>
          <a:bodyPr wrap="square" anchor="t" lIns="0" rIns="0" tIns="0" bIns="0">
            <a:spAutoFit/>
          </a:bodyPr>
          <a:lstStyle/>
          <a:p>
            <a:pPr algn="l">
              <a:lnSpc>
                <a:spcPct val="100000"/>
              </a:lnSpc>
            </a:pPr>
            <a:r>
              <a:rPr sz="1800" b="1" i="0">
                <a:solidFill>
                  <a:srgbClr val="171618"/>
                </a:solidFill>
                <a:latin typeface="Arial"/>
              </a:rPr>
              <a:t>Fund it once</a:t>
            </a:r>
          </a:p>
        </p:txBody>
      </p:sp>
      <p:sp>
        <p:nvSpPr>
          <p:cNvPr id="22" name="TextBox 21"/>
          <p:cNvSpPr txBox="1"/>
          <p:nvPr/>
        </p:nvSpPr>
        <p:spPr>
          <a:xfrm>
            <a:off x="2148840" y="2944368"/>
            <a:ext cx="3502152" cy="822960"/>
          </a:xfrm>
          <a:prstGeom prst="rect">
            <a:avLst/>
          </a:prstGeom>
          <a:noFill/>
        </p:spPr>
        <p:txBody>
          <a:bodyPr wrap="square" anchor="t" lIns="0" rIns="0" tIns="0" bIns="0">
            <a:spAutoFit/>
          </a:bodyPr>
          <a:lstStyle/>
          <a:p>
            <a:pPr algn="l">
              <a:lnSpc>
                <a:spcPct val="110000"/>
              </a:lnSpc>
            </a:pPr>
            <a:r>
              <a:rPr sz="1250" b="0" i="0">
                <a:solidFill>
                  <a:srgbClr val="757474"/>
                </a:solidFill>
                <a:latin typeface="Arial"/>
              </a:rPr>
              <a:t>Approve USDC, deposit a lump sum, and set a rate per person. The stream takes it from there.</a:t>
            </a:r>
          </a:p>
        </p:txBody>
      </p:sp>
      <p:sp>
        <p:nvSpPr>
          <p:cNvPr id="23" name="Rounded Rectangle 22"/>
          <p:cNvSpPr/>
          <p:nvPr/>
        </p:nvSpPr>
        <p:spPr>
          <a:xfrm>
            <a:off x="6217920" y="2286000"/>
            <a:ext cx="5193792" cy="1572768"/>
          </a:xfrm>
          <a:prstGeom prst="roundRect">
            <a:avLst>
              <a:gd name="adj" fmla="val 5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28816" y="2523744"/>
            <a:ext cx="1005840" cy="1097280"/>
          </a:xfrm>
          <a:prstGeom prst="rect">
            <a:avLst/>
          </a:prstGeom>
          <a:noFill/>
        </p:spPr>
        <p:txBody>
          <a:bodyPr wrap="square" anchor="t" lIns="0" rIns="0" tIns="0" bIns="0">
            <a:spAutoFit/>
          </a:bodyPr>
          <a:lstStyle/>
          <a:p>
            <a:pPr algn="l">
              <a:lnSpc>
                <a:spcPct val="100000"/>
              </a:lnSpc>
            </a:pPr>
            <a:r>
              <a:rPr sz="3000" b="1" i="0">
                <a:solidFill>
                  <a:srgbClr val="95A2F3"/>
                </a:solidFill>
                <a:latin typeface="Consolas"/>
              </a:rPr>
              <a:t>02</a:t>
            </a:r>
          </a:p>
        </p:txBody>
      </p:sp>
      <p:sp>
        <p:nvSpPr>
          <p:cNvPr id="25" name="TextBox 24"/>
          <p:cNvSpPr txBox="1"/>
          <p:nvPr/>
        </p:nvSpPr>
        <p:spPr>
          <a:xfrm>
            <a:off x="7589520" y="2523744"/>
            <a:ext cx="3547872" cy="457200"/>
          </a:xfrm>
          <a:prstGeom prst="rect">
            <a:avLst/>
          </a:prstGeom>
          <a:noFill/>
        </p:spPr>
        <p:txBody>
          <a:bodyPr wrap="square" anchor="t" lIns="0" rIns="0" tIns="0" bIns="0">
            <a:spAutoFit/>
          </a:bodyPr>
          <a:lstStyle/>
          <a:p>
            <a:pPr algn="l">
              <a:lnSpc>
                <a:spcPct val="100000"/>
              </a:lnSpc>
            </a:pPr>
            <a:r>
              <a:rPr sz="1800" b="1" i="0">
                <a:solidFill>
                  <a:srgbClr val="171618"/>
                </a:solidFill>
                <a:latin typeface="Arial"/>
              </a:rPr>
              <a:t>Let it stream</a:t>
            </a:r>
          </a:p>
        </p:txBody>
      </p:sp>
      <p:sp>
        <p:nvSpPr>
          <p:cNvPr id="26" name="TextBox 25"/>
          <p:cNvSpPr txBox="1"/>
          <p:nvPr/>
        </p:nvSpPr>
        <p:spPr>
          <a:xfrm>
            <a:off x="7589520" y="2944368"/>
            <a:ext cx="3502152" cy="822960"/>
          </a:xfrm>
          <a:prstGeom prst="rect">
            <a:avLst/>
          </a:prstGeom>
          <a:noFill/>
        </p:spPr>
        <p:txBody>
          <a:bodyPr wrap="square" anchor="t" lIns="0" rIns="0" tIns="0" bIns="0">
            <a:spAutoFit/>
          </a:bodyPr>
          <a:lstStyle/>
          <a:p>
            <a:pPr algn="l">
              <a:lnSpc>
                <a:spcPct val="110000"/>
              </a:lnSpc>
            </a:pPr>
            <a:r>
              <a:rPr sz="1250" b="0" i="0">
                <a:solidFill>
                  <a:srgbClr val="757474"/>
                </a:solidFill>
                <a:latin typeface="Arial"/>
              </a:rPr>
              <a:t>The contract pays out every second, live. The payee watches the balance tick up in real time.</a:t>
            </a:r>
          </a:p>
        </p:txBody>
      </p:sp>
      <p:sp>
        <p:nvSpPr>
          <p:cNvPr id="27" name="Rounded Rectangle 26"/>
          <p:cNvSpPr/>
          <p:nvPr/>
        </p:nvSpPr>
        <p:spPr>
          <a:xfrm>
            <a:off x="777240" y="4123944"/>
            <a:ext cx="5193792" cy="1572768"/>
          </a:xfrm>
          <a:prstGeom prst="roundRect">
            <a:avLst>
              <a:gd name="adj" fmla="val 5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88136" y="4361688"/>
            <a:ext cx="1005840" cy="1097280"/>
          </a:xfrm>
          <a:prstGeom prst="rect">
            <a:avLst/>
          </a:prstGeom>
          <a:noFill/>
        </p:spPr>
        <p:txBody>
          <a:bodyPr wrap="square" anchor="t" lIns="0" rIns="0" tIns="0" bIns="0">
            <a:spAutoFit/>
          </a:bodyPr>
          <a:lstStyle/>
          <a:p>
            <a:pPr algn="l">
              <a:lnSpc>
                <a:spcPct val="100000"/>
              </a:lnSpc>
            </a:pPr>
            <a:r>
              <a:rPr sz="3000" b="1" i="0">
                <a:solidFill>
                  <a:srgbClr val="95A2F3"/>
                </a:solidFill>
                <a:latin typeface="Consolas"/>
              </a:rPr>
              <a:t>03</a:t>
            </a:r>
          </a:p>
        </p:txBody>
      </p:sp>
      <p:sp>
        <p:nvSpPr>
          <p:cNvPr id="29" name="TextBox 28"/>
          <p:cNvSpPr txBox="1"/>
          <p:nvPr/>
        </p:nvSpPr>
        <p:spPr>
          <a:xfrm>
            <a:off x="2148840" y="4361688"/>
            <a:ext cx="3547872" cy="457200"/>
          </a:xfrm>
          <a:prstGeom prst="rect">
            <a:avLst/>
          </a:prstGeom>
          <a:noFill/>
        </p:spPr>
        <p:txBody>
          <a:bodyPr wrap="square" anchor="t" lIns="0" rIns="0" tIns="0" bIns="0">
            <a:spAutoFit/>
          </a:bodyPr>
          <a:lstStyle/>
          <a:p>
            <a:pPr algn="l">
              <a:lnSpc>
                <a:spcPct val="100000"/>
              </a:lnSpc>
            </a:pPr>
            <a:r>
              <a:rPr sz="1800" b="1" i="0">
                <a:solidFill>
                  <a:srgbClr val="171618"/>
                </a:solidFill>
                <a:latin typeface="Arial"/>
              </a:rPr>
              <a:t>Withdraw whenever</a:t>
            </a:r>
          </a:p>
        </p:txBody>
      </p:sp>
      <p:sp>
        <p:nvSpPr>
          <p:cNvPr id="30" name="TextBox 29"/>
          <p:cNvSpPr txBox="1"/>
          <p:nvPr/>
        </p:nvSpPr>
        <p:spPr>
          <a:xfrm>
            <a:off x="2148840" y="4782312"/>
            <a:ext cx="3502152" cy="822960"/>
          </a:xfrm>
          <a:prstGeom prst="rect">
            <a:avLst/>
          </a:prstGeom>
          <a:noFill/>
        </p:spPr>
        <p:txBody>
          <a:bodyPr wrap="square" anchor="t" lIns="0" rIns="0" tIns="0" bIns="0">
            <a:spAutoFit/>
          </a:bodyPr>
          <a:lstStyle/>
          <a:p>
            <a:pPr algn="l">
              <a:lnSpc>
                <a:spcPct val="110000"/>
              </a:lnSpc>
            </a:pPr>
            <a:r>
              <a:rPr sz="1250" b="0" i="0">
                <a:solidFill>
                  <a:srgbClr val="757474"/>
                </a:solidFill>
                <a:latin typeface="Arial"/>
              </a:rPr>
              <a:t>Earned it, want it, take it. Rent due on the 3rd but payday on the 30th stops being the problem.</a:t>
            </a:r>
          </a:p>
        </p:txBody>
      </p:sp>
      <p:sp>
        <p:nvSpPr>
          <p:cNvPr id="31" name="Rounded Rectangle 30"/>
          <p:cNvSpPr/>
          <p:nvPr/>
        </p:nvSpPr>
        <p:spPr>
          <a:xfrm>
            <a:off x="6217920" y="4123944"/>
            <a:ext cx="5193792" cy="1572768"/>
          </a:xfrm>
          <a:prstGeom prst="roundRect">
            <a:avLst>
              <a:gd name="adj" fmla="val 5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28816" y="4361688"/>
            <a:ext cx="1005840" cy="1097280"/>
          </a:xfrm>
          <a:prstGeom prst="rect">
            <a:avLst/>
          </a:prstGeom>
          <a:noFill/>
        </p:spPr>
        <p:txBody>
          <a:bodyPr wrap="square" anchor="t" lIns="0" rIns="0" tIns="0" bIns="0">
            <a:spAutoFit/>
          </a:bodyPr>
          <a:lstStyle/>
          <a:p>
            <a:pPr algn="l">
              <a:lnSpc>
                <a:spcPct val="100000"/>
              </a:lnSpc>
            </a:pPr>
            <a:r>
              <a:rPr sz="3000" b="1" i="0">
                <a:solidFill>
                  <a:srgbClr val="95A2F3"/>
                </a:solidFill>
                <a:latin typeface="Consolas"/>
              </a:rPr>
              <a:t>04</a:t>
            </a:r>
          </a:p>
        </p:txBody>
      </p:sp>
      <p:sp>
        <p:nvSpPr>
          <p:cNvPr id="33" name="TextBox 32"/>
          <p:cNvSpPr txBox="1"/>
          <p:nvPr/>
        </p:nvSpPr>
        <p:spPr>
          <a:xfrm>
            <a:off x="7589520" y="4361688"/>
            <a:ext cx="3547872" cy="457200"/>
          </a:xfrm>
          <a:prstGeom prst="rect">
            <a:avLst/>
          </a:prstGeom>
          <a:noFill/>
        </p:spPr>
        <p:txBody>
          <a:bodyPr wrap="square" anchor="t" lIns="0" rIns="0" tIns="0" bIns="0">
            <a:spAutoFit/>
          </a:bodyPr>
          <a:lstStyle/>
          <a:p>
            <a:pPr algn="l">
              <a:lnSpc>
                <a:spcPct val="100000"/>
              </a:lnSpc>
            </a:pPr>
            <a:r>
              <a:rPr sz="1800" b="1" i="0">
                <a:solidFill>
                  <a:srgbClr val="171618"/>
                </a:solidFill>
                <a:latin typeface="Arial"/>
              </a:rPr>
              <a:t>Top up or cancel</a:t>
            </a:r>
          </a:p>
        </p:txBody>
      </p:sp>
      <p:sp>
        <p:nvSpPr>
          <p:cNvPr id="34" name="TextBox 33"/>
          <p:cNvSpPr txBox="1"/>
          <p:nvPr/>
        </p:nvSpPr>
        <p:spPr>
          <a:xfrm>
            <a:off x="7589520" y="4782312"/>
            <a:ext cx="3502152" cy="822960"/>
          </a:xfrm>
          <a:prstGeom prst="rect">
            <a:avLst/>
          </a:prstGeom>
          <a:noFill/>
        </p:spPr>
        <p:txBody>
          <a:bodyPr wrap="square" anchor="t" lIns="0" rIns="0" tIns="0" bIns="0">
            <a:spAutoFit/>
          </a:bodyPr>
          <a:lstStyle/>
          <a:p>
            <a:pPr algn="l">
              <a:lnSpc>
                <a:spcPct val="110000"/>
              </a:lnSpc>
            </a:pPr>
            <a:r>
              <a:rPr sz="1250" b="0" i="0">
                <a:solidFill>
                  <a:srgbClr val="757474"/>
                </a:solidFill>
                <a:latin typeface="Arial"/>
              </a:rPr>
              <a:t>Add runway anytime, or cancel and reclaim every cent that has not streamed yet.</a:t>
            </a:r>
          </a:p>
        </p:txBody>
      </p:sp>
      <p:sp>
        <p:nvSpPr>
          <p:cNvPr id="35" name="Rectangle 34"/>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7" name="TextBox 36"/>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THE MONEY SIDE</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A control room for outgoing pay.</a:t>
            </a:r>
          </a:p>
        </p:txBody>
      </p:sp>
      <p:sp>
        <p:nvSpPr>
          <p:cNvPr id="19" name="Oval 18"/>
          <p:cNvSpPr/>
          <p:nvPr/>
        </p:nvSpPr>
        <p:spPr>
          <a:xfrm>
            <a:off x="777240" y="233629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28600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Open a stream  </a:t>
            </a:r>
            <a:r>
              <a:rPr sz="1350" b="0" i="0">
                <a:solidFill>
                  <a:srgbClr val="757474"/>
                </a:solidFill>
                <a:latin typeface="Arial"/>
              </a:rPr>
              <a:t>with a recipient, rate, deposit, an optional reference, and an optional start time.</a:t>
            </a:r>
          </a:p>
        </p:txBody>
      </p:sp>
      <p:sp>
        <p:nvSpPr>
          <p:cNvPr id="21" name="Oval 20"/>
          <p:cNvSpPr/>
          <p:nvPr/>
        </p:nvSpPr>
        <p:spPr>
          <a:xfrm>
            <a:off x="777240" y="2958084"/>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2907792"/>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Live USDC balance  </a:t>
            </a:r>
            <a:r>
              <a:rPr sz="1350" b="0" i="0">
                <a:solidFill>
                  <a:srgbClr val="757474"/>
                </a:solidFill>
                <a:latin typeface="Arial"/>
              </a:rPr>
              <a:t>up top, with a one-tap privacy blur when you would rather not show it.</a:t>
            </a:r>
          </a:p>
        </p:txBody>
      </p:sp>
      <p:sp>
        <p:nvSpPr>
          <p:cNvPr id="23" name="Oval 22"/>
          <p:cNvSpPr/>
          <p:nvPr/>
        </p:nvSpPr>
        <p:spPr>
          <a:xfrm>
            <a:off x="777240" y="3579876"/>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3529584"/>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Every stream at a glance  </a:t>
            </a:r>
            <a:r>
              <a:rPr sz="1350" b="0" i="0">
                <a:solidFill>
                  <a:srgbClr val="757474"/>
                </a:solidFill>
                <a:latin typeface="Arial"/>
              </a:rPr>
              <a:t>with total, ongoing, and scheduled counts on one strip.</a:t>
            </a:r>
          </a:p>
        </p:txBody>
      </p:sp>
      <p:sp>
        <p:nvSpPr>
          <p:cNvPr id="25" name="Oval 24"/>
          <p:cNvSpPr/>
          <p:nvPr/>
        </p:nvSpPr>
        <p:spPr>
          <a:xfrm>
            <a:off x="777240" y="4201668"/>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2" y="4151376"/>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Per-stream runway  </a:t>
            </a:r>
            <a:r>
              <a:rPr sz="1350" b="0" i="0">
                <a:solidFill>
                  <a:srgbClr val="757474"/>
                </a:solidFill>
                <a:latin typeface="Arial"/>
              </a:rPr>
              <a:t>showing exactly how long a stream can run, plus daily and monthly equivalents of the rate.</a:t>
            </a:r>
          </a:p>
        </p:txBody>
      </p:sp>
      <p:sp>
        <p:nvSpPr>
          <p:cNvPr id="27" name="Oval 26"/>
          <p:cNvSpPr/>
          <p:nvPr/>
        </p:nvSpPr>
        <p:spPr>
          <a:xfrm>
            <a:off x="777240" y="4823460"/>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773168"/>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Top up or cancel  </a:t>
            </a:r>
            <a:r>
              <a:rPr sz="1350" b="0" i="0">
                <a:solidFill>
                  <a:srgbClr val="757474"/>
                </a:solidFill>
                <a:latin typeface="Arial"/>
              </a:rPr>
              <a:t>to extend runway, or cancel and refund the unstreamed remainder to your wallet instantly.</a:t>
            </a:r>
          </a:p>
        </p:txBody>
      </p:sp>
      <p:sp>
        <p:nvSpPr>
          <p:cNvPr id="29" name="Oval 28"/>
          <p:cNvSpPr/>
          <p:nvPr/>
        </p:nvSpPr>
        <p:spPr>
          <a:xfrm>
            <a:off x="777240" y="544525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39496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One-click testnet funding  </a:t>
            </a:r>
            <a:r>
              <a:rPr sz="1350" b="0" i="0">
                <a:solidFill>
                  <a:srgbClr val="757474"/>
                </a:solidFill>
                <a:latin typeface="Arial"/>
              </a:rPr>
              <a:t>drips USDC to your wallet without leaving the app.</a:t>
            </a:r>
          </a:p>
        </p:txBody>
      </p:sp>
      <p:sp>
        <p:nvSpPr>
          <p:cNvPr id="31" name="Rectangle 30"/>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3" name="TextBox 32"/>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THE EARNING SIDE</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Watch it climb. Cash out anytime.</a:t>
            </a:r>
          </a:p>
        </p:txBody>
      </p:sp>
      <p:sp>
        <p:nvSpPr>
          <p:cNvPr id="19" name="Oval 18"/>
          <p:cNvSpPr/>
          <p:nvPr/>
        </p:nvSpPr>
        <p:spPr>
          <a:xfrm>
            <a:off x="777240" y="233629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286000"/>
            <a:ext cx="10259568" cy="822960"/>
          </a:xfrm>
          <a:prstGeom prst="rect">
            <a:avLst/>
          </a:prstGeom>
          <a:noFill/>
        </p:spPr>
        <p:txBody>
          <a:bodyPr wrap="square" anchor="t" lIns="0" rIns="0" tIns="0" bIns="0">
            <a:spAutoFit/>
          </a:bodyPr>
          <a:lstStyle/>
          <a:p>
            <a:pPr algn="l">
              <a:lnSpc>
                <a:spcPct val="106000"/>
              </a:lnSpc>
            </a:pPr>
            <a:r>
              <a:rPr sz="1400" b="1" i="0">
                <a:solidFill>
                  <a:srgbClr val="171618"/>
                </a:solidFill>
                <a:latin typeface="Arial"/>
              </a:rPr>
              <a:t>A per-second earnings ticker  </a:t>
            </a:r>
            <a:r>
              <a:rPr sz="1400" b="0" i="0">
                <a:solidFill>
                  <a:srgbClr val="757474"/>
                </a:solidFill>
                <a:latin typeface="Arial"/>
              </a:rPr>
              <a:t>on every live stream, smoothed on the client so the number moves without hammering the network.</a:t>
            </a:r>
          </a:p>
        </p:txBody>
      </p:sp>
      <p:sp>
        <p:nvSpPr>
          <p:cNvPr id="21" name="Oval 20"/>
          <p:cNvSpPr/>
          <p:nvPr/>
        </p:nvSpPr>
        <p:spPr>
          <a:xfrm>
            <a:off x="777240" y="3012948"/>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2962656"/>
            <a:ext cx="10259568" cy="822960"/>
          </a:xfrm>
          <a:prstGeom prst="rect">
            <a:avLst/>
          </a:prstGeom>
          <a:noFill/>
        </p:spPr>
        <p:txBody>
          <a:bodyPr wrap="square" anchor="t" lIns="0" rIns="0" tIns="0" bIns="0">
            <a:spAutoFit/>
          </a:bodyPr>
          <a:lstStyle/>
          <a:p>
            <a:pPr algn="l">
              <a:lnSpc>
                <a:spcPct val="106000"/>
              </a:lnSpc>
            </a:pPr>
            <a:r>
              <a:rPr sz="1400" b="1" i="0">
                <a:solidFill>
                  <a:srgbClr val="171618"/>
                </a:solidFill>
                <a:latin typeface="Arial"/>
              </a:rPr>
              <a:t>Considerate by default  </a:t>
            </a:r>
            <a:r>
              <a:rPr sz="1400" b="0" i="0">
                <a:solidFill>
                  <a:srgbClr val="757474"/>
                </a:solidFill>
                <a:latin typeface="Arial"/>
              </a:rPr>
              <a:t>the ticker pauses when the tab is hidden and honors reduced-motion preferences.</a:t>
            </a:r>
          </a:p>
        </p:txBody>
      </p:sp>
      <p:sp>
        <p:nvSpPr>
          <p:cNvPr id="23" name="Oval 22"/>
          <p:cNvSpPr/>
          <p:nvPr/>
        </p:nvSpPr>
        <p:spPr>
          <a:xfrm>
            <a:off x="777240" y="3689604"/>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3639312"/>
            <a:ext cx="10259568" cy="822960"/>
          </a:xfrm>
          <a:prstGeom prst="rect">
            <a:avLst/>
          </a:prstGeom>
          <a:noFill/>
        </p:spPr>
        <p:txBody>
          <a:bodyPr wrap="square" anchor="t" lIns="0" rIns="0" tIns="0" bIns="0">
            <a:spAutoFit/>
          </a:bodyPr>
          <a:lstStyle/>
          <a:p>
            <a:pPr algn="l">
              <a:lnSpc>
                <a:spcPct val="106000"/>
              </a:lnSpc>
            </a:pPr>
            <a:r>
              <a:rPr sz="1400" b="1" i="0">
                <a:solidFill>
                  <a:srgbClr val="171618"/>
                </a:solidFill>
                <a:latin typeface="Arial"/>
              </a:rPr>
              <a:t>One-click cash out  </a:t>
            </a:r>
            <a:r>
              <a:rPr sz="1400" b="0" i="0">
                <a:solidFill>
                  <a:srgbClr val="757474"/>
                </a:solidFill>
                <a:latin typeface="Arial"/>
              </a:rPr>
              <a:t>sends everything earned so far straight to your wallet.</a:t>
            </a:r>
          </a:p>
        </p:txBody>
      </p:sp>
      <p:sp>
        <p:nvSpPr>
          <p:cNvPr id="25" name="Oval 24"/>
          <p:cNvSpPr/>
          <p:nvPr/>
        </p:nvSpPr>
        <p:spPr>
          <a:xfrm>
            <a:off x="777240" y="4366260"/>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2" y="4315968"/>
            <a:ext cx="10259568" cy="822960"/>
          </a:xfrm>
          <a:prstGeom prst="rect">
            <a:avLst/>
          </a:prstGeom>
          <a:noFill/>
        </p:spPr>
        <p:txBody>
          <a:bodyPr wrap="square" anchor="t" lIns="0" rIns="0" tIns="0" bIns="0">
            <a:spAutoFit/>
          </a:bodyPr>
          <a:lstStyle/>
          <a:p>
            <a:pPr algn="l">
              <a:lnSpc>
                <a:spcPct val="106000"/>
              </a:lnSpc>
            </a:pPr>
            <a:r>
              <a:rPr sz="1400" b="1" i="0">
                <a:solidFill>
                  <a:srgbClr val="171618"/>
                </a:solidFill>
                <a:latin typeface="Arial"/>
              </a:rPr>
              <a:t>Wallet balance and stream counts  </a:t>
            </a:r>
            <a:r>
              <a:rPr sz="1400" b="0" i="0">
                <a:solidFill>
                  <a:srgbClr val="757474"/>
                </a:solidFill>
                <a:latin typeface="Arial"/>
              </a:rPr>
              <a:t>in one place, ongoing and scheduled.</a:t>
            </a:r>
          </a:p>
        </p:txBody>
      </p:sp>
      <p:sp>
        <p:nvSpPr>
          <p:cNvPr id="27" name="Oval 26"/>
          <p:cNvSpPr/>
          <p:nvPr/>
        </p:nvSpPr>
        <p:spPr>
          <a:xfrm>
            <a:off x="777240" y="5042916"/>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992624"/>
            <a:ext cx="10259568" cy="822960"/>
          </a:xfrm>
          <a:prstGeom prst="rect">
            <a:avLst/>
          </a:prstGeom>
          <a:noFill/>
        </p:spPr>
        <p:txBody>
          <a:bodyPr wrap="square" anchor="t" lIns="0" rIns="0" tIns="0" bIns="0">
            <a:spAutoFit/>
          </a:bodyPr>
          <a:lstStyle/>
          <a:p>
            <a:pPr algn="l">
              <a:lnSpc>
                <a:spcPct val="106000"/>
              </a:lnSpc>
            </a:pPr>
            <a:r>
              <a:rPr sz="1400" b="1" i="0">
                <a:solidFill>
                  <a:srgbClr val="171618"/>
                </a:solidFill>
                <a:latin typeface="Arial"/>
              </a:rPr>
              <a:t>Request a stream  </a:t>
            </a:r>
            <a:r>
              <a:rPr sz="1400" b="0" i="0">
                <a:solidFill>
                  <a:srgbClr val="757474"/>
                </a:solidFill>
                <a:latin typeface="Arial"/>
              </a:rPr>
              <a:t>from any payer in a couple of taps when you would rather ask than wait.</a:t>
            </a:r>
          </a:p>
        </p:txBody>
      </p:sp>
      <p:sp>
        <p:nvSpPr>
          <p:cNvPr id="29" name="Rectangle 28"/>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1" name="TextBox 30"/>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PAY EVERYONE AT ONCE</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400" b="1" i="0">
                <a:solidFill>
                  <a:srgbClr val="171618"/>
                </a:solidFill>
                <a:latin typeface="Arial"/>
              </a:rPr>
              <a:t>A whole payroll in one transaction.</a:t>
            </a:r>
          </a:p>
        </p:txBody>
      </p:sp>
      <p:sp>
        <p:nvSpPr>
          <p:cNvPr id="19" name="TextBox 18"/>
          <p:cNvSpPr txBox="1"/>
          <p:nvPr/>
        </p:nvSpPr>
        <p:spPr>
          <a:xfrm>
            <a:off x="777240" y="2103120"/>
            <a:ext cx="10424160" cy="822960"/>
          </a:xfrm>
          <a:prstGeom prst="rect">
            <a:avLst/>
          </a:prstGeom>
          <a:noFill/>
        </p:spPr>
        <p:txBody>
          <a:bodyPr wrap="square" anchor="t" lIns="0" rIns="0" tIns="0" bIns="0">
            <a:spAutoFit/>
          </a:bodyPr>
          <a:lstStyle/>
          <a:p>
            <a:pPr algn="l">
              <a:lnSpc>
                <a:spcPct val="116000"/>
              </a:lnSpc>
            </a:pPr>
            <a:r>
              <a:rPr sz="1450" b="0" i="0">
                <a:solidFill>
                  <a:srgbClr val="757474"/>
                </a:solidFill>
                <a:latin typeface="Arial"/>
              </a:rPr>
              <a:t>A native </a:t>
            </a:r>
            <a:r>
              <a:rPr sz="1400" b="1" i="0">
                <a:solidFill>
                  <a:srgbClr val="171618"/>
                </a:solidFill>
                <a:latin typeface="Consolas"/>
              </a:rPr>
              <a:t>createStreams</a:t>
            </a:r>
            <a:r>
              <a:rPr sz="1450" b="0" i="0">
                <a:solidFill>
                  <a:srgbClr val="757474"/>
                </a:solidFill>
                <a:latin typeface="Arial"/>
              </a:rPr>
              <a:t> call opens many streams at once. The payer approves once and the entire batch's escrow moves in a single transfer.</a:t>
            </a:r>
          </a:p>
        </p:txBody>
      </p:sp>
      <p:sp>
        <p:nvSpPr>
          <p:cNvPr id="20" name="Oval 19"/>
          <p:cNvSpPr/>
          <p:nvPr/>
        </p:nvSpPr>
        <p:spPr>
          <a:xfrm>
            <a:off x="777240" y="311353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2" y="306324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All-or-nothing  </a:t>
            </a:r>
            <a:r>
              <a:rPr sz="1350" b="0" i="0">
                <a:solidFill>
                  <a:srgbClr val="757474"/>
                </a:solidFill>
                <a:latin typeface="Arial"/>
              </a:rPr>
              <a:t>every row is validated before any funds move, so one bad entry reverts the whole batch and never leaves a half-created set.</a:t>
            </a:r>
          </a:p>
        </p:txBody>
      </p:sp>
      <p:sp>
        <p:nvSpPr>
          <p:cNvPr id="22" name="Oval 21"/>
          <p:cNvSpPr/>
          <p:nvPr/>
        </p:nvSpPr>
        <p:spPr>
          <a:xfrm>
            <a:off x="777240" y="3717036"/>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666744"/>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Address or @handle  </a:t>
            </a:r>
            <a:r>
              <a:rPr sz="1350" b="0" i="0">
                <a:solidFill>
                  <a:srgbClr val="757474"/>
                </a:solidFill>
                <a:latin typeface="Arial"/>
              </a:rPr>
              <a:t>add recipients either way and Cadence resolves them live as you type.</a:t>
            </a:r>
          </a:p>
        </p:txBody>
      </p:sp>
      <p:sp>
        <p:nvSpPr>
          <p:cNvPr id="24" name="Oval 23"/>
          <p:cNvSpPr/>
          <p:nvPr/>
        </p:nvSpPr>
        <p:spPr>
          <a:xfrm>
            <a:off x="777240" y="4320540"/>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270248"/>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Import a file  </a:t>
            </a:r>
            <a:r>
              <a:rPr sz="1350" b="0" i="0">
                <a:solidFill>
                  <a:srgbClr val="757474"/>
                </a:solidFill>
                <a:latin typeface="Arial"/>
              </a:rPr>
              <a:t>from CSV, JSON, or a spreadsheet, with strict validation and a 200-row ceiling.</a:t>
            </a:r>
          </a:p>
        </p:txBody>
      </p:sp>
      <p:sp>
        <p:nvSpPr>
          <p:cNvPr id="26" name="Oval 25"/>
          <p:cNvSpPr/>
          <p:nvPr/>
        </p:nvSpPr>
        <p:spPr>
          <a:xfrm>
            <a:off x="777240" y="4924044"/>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4873752"/>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Three allocation modes  </a:t>
            </a:r>
            <a:r>
              <a:rPr sz="1350" b="0" i="0">
                <a:solidFill>
                  <a:srgbClr val="757474"/>
                </a:solidFill>
                <a:latin typeface="Arial"/>
              </a:rPr>
              <a:t>per recipient, split a total evenly, or send the same amount to each.</a:t>
            </a:r>
          </a:p>
        </p:txBody>
      </p:sp>
      <p:sp>
        <p:nvSpPr>
          <p:cNvPr id="28" name="Oval 27"/>
          <p:cNvSpPr/>
          <p:nvPr/>
        </p:nvSpPr>
        <p:spPr>
          <a:xfrm>
            <a:off x="777240" y="5527548"/>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5477256"/>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Duplicate detection  </a:t>
            </a:r>
            <a:r>
              <a:rPr sz="1350" b="0" i="0">
                <a:solidFill>
                  <a:srgbClr val="757474"/>
                </a:solidFill>
                <a:latin typeface="Arial"/>
              </a:rPr>
              <a:t>flags a wallet that appears twice before you ever sign.</a:t>
            </a:r>
          </a:p>
        </p:txBody>
      </p:sp>
      <p:sp>
        <p:nvSpPr>
          <p:cNvPr id="30" name="Rectangle 29"/>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2" name="TextBox 31"/>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TWO-WAY TERMS</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2900" b="1" i="0">
                <a:solidFill>
                  <a:srgbClr val="171618"/>
                </a:solidFill>
                <a:latin typeface="Arial"/>
              </a:rPr>
              <a:t>Requests, counters, and escrow that protects both sides.</a:t>
            </a:r>
          </a:p>
        </p:txBody>
      </p:sp>
      <p:sp>
        <p:nvSpPr>
          <p:cNvPr id="19" name="TextBox 18"/>
          <p:cNvSpPr txBox="1"/>
          <p:nvPr/>
        </p:nvSpPr>
        <p:spPr>
          <a:xfrm>
            <a:off x="777240" y="2011680"/>
            <a:ext cx="10424160" cy="640080"/>
          </a:xfrm>
          <a:prstGeom prst="rect">
            <a:avLst/>
          </a:prstGeom>
          <a:noFill/>
        </p:spPr>
        <p:txBody>
          <a:bodyPr wrap="square" anchor="t" lIns="0" rIns="0" tIns="0" bIns="0">
            <a:spAutoFit/>
          </a:bodyPr>
          <a:lstStyle/>
          <a:p>
            <a:pPr algn="l">
              <a:lnSpc>
                <a:spcPct val="116000"/>
              </a:lnSpc>
            </a:pPr>
            <a:r>
              <a:rPr sz="1450" b="0" i="0">
                <a:solidFill>
                  <a:srgbClr val="757474"/>
                </a:solidFill>
                <a:latin typeface="Arial"/>
              </a:rPr>
              <a:t>A payee can ask a payer to open a stream. The payer accepts the terms as-is, or counters with their own.</a:t>
            </a:r>
          </a:p>
        </p:txBody>
      </p:sp>
      <p:sp>
        <p:nvSpPr>
          <p:cNvPr id="20" name="Oval 19"/>
          <p:cNvSpPr/>
          <p:nvPr/>
        </p:nvSpPr>
        <p:spPr>
          <a:xfrm>
            <a:off x="777240" y="283921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2" y="278892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A counter escrows the deposit up front  </a:t>
            </a:r>
            <a:r>
              <a:rPr sz="1350" b="0" i="0">
                <a:solidFill>
                  <a:srgbClr val="757474"/>
                </a:solidFill>
                <a:latin typeface="Arial"/>
              </a:rPr>
              <a:t>so the payee accepts with no further payer signature and the stream opens instantly on agreed terms.</a:t>
            </a:r>
          </a:p>
        </p:txBody>
      </p:sp>
      <p:sp>
        <p:nvSpPr>
          <p:cNvPr id="22" name="Oval 21"/>
          <p:cNvSpPr/>
          <p:nvPr/>
        </p:nvSpPr>
        <p:spPr>
          <a:xfrm>
            <a:off x="777240" y="347929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342900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Counters auto-expire after six hours  </a:t>
            </a:r>
            <a:r>
              <a:rPr sz="1350" b="0" i="0">
                <a:solidFill>
                  <a:srgbClr val="757474"/>
                </a:solidFill>
                <a:latin typeface="Arial"/>
              </a:rPr>
              <a:t>and anyone can settle a lapsed offer, returning the escrow to the payer without waiting on either party.</a:t>
            </a:r>
          </a:p>
        </p:txBody>
      </p:sp>
      <p:sp>
        <p:nvSpPr>
          <p:cNvPr id="24" name="Oval 23"/>
          <p:cNvSpPr/>
          <p:nvPr/>
        </p:nvSpPr>
        <p:spPr>
          <a:xfrm>
            <a:off x="777240" y="411937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06908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Clean exits everywhere  </a:t>
            </a:r>
            <a:r>
              <a:rPr sz="1350" b="0" i="0">
                <a:solidFill>
                  <a:srgbClr val="757474"/>
                </a:solidFill>
                <a:latin typeface="Arial"/>
              </a:rPr>
              <a:t>reject a request, decline a counter, or cancel your own, with escrowed funds always returned.</a:t>
            </a:r>
          </a:p>
        </p:txBody>
      </p:sp>
      <p:sp>
        <p:nvSpPr>
          <p:cNvPr id="26" name="Rounded Rectangle 25"/>
          <p:cNvSpPr/>
          <p:nvPr/>
        </p:nvSpPr>
        <p:spPr>
          <a:xfrm>
            <a:off x="777240" y="5074920"/>
            <a:ext cx="1207008" cy="310896"/>
          </a:xfrm>
          <a:prstGeom prst="roundRect">
            <a:avLst>
              <a:gd name="adj" fmla="val 50000"/>
            </a:avLst>
          </a:prstGeom>
          <a:solidFill>
            <a:srgbClr val="E7E8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2B44E7"/>
                </a:solidFill>
                <a:latin typeface="Arial"/>
              </a:rPr>
              <a:t>Pending</a:t>
            </a:r>
          </a:p>
        </p:txBody>
      </p:sp>
      <p:sp>
        <p:nvSpPr>
          <p:cNvPr id="27" name="TextBox 26"/>
          <p:cNvSpPr txBox="1"/>
          <p:nvPr/>
        </p:nvSpPr>
        <p:spPr>
          <a:xfrm>
            <a:off x="2029968" y="5065776"/>
            <a:ext cx="274320" cy="310896"/>
          </a:xfrm>
          <a:prstGeom prst="rect">
            <a:avLst/>
          </a:prstGeom>
          <a:noFill/>
        </p:spPr>
        <p:txBody>
          <a:bodyPr wrap="square" anchor="ctr" lIns="0" rIns="0" tIns="0" bIns="0">
            <a:spAutoFit/>
          </a:bodyPr>
          <a:lstStyle/>
          <a:p>
            <a:pPr algn="l">
              <a:lnSpc>
                <a:spcPct val="100000"/>
              </a:lnSpc>
            </a:pPr>
            <a:r>
              <a:rPr sz="1500" b="1" i="0">
                <a:solidFill>
                  <a:srgbClr val="908F8E"/>
                </a:solidFill>
                <a:latin typeface="Arial"/>
              </a:rPr>
              <a:t>›</a:t>
            </a:r>
          </a:p>
        </p:txBody>
      </p:sp>
      <p:sp>
        <p:nvSpPr>
          <p:cNvPr id="28" name="Rounded Rectangle 27"/>
          <p:cNvSpPr/>
          <p:nvPr/>
        </p:nvSpPr>
        <p:spPr>
          <a:xfrm>
            <a:off x="2414016" y="5074920"/>
            <a:ext cx="1463040" cy="310896"/>
          </a:xfrm>
          <a:prstGeom prst="roundRect">
            <a:avLst>
              <a:gd name="adj" fmla="val 50000"/>
            </a:avLst>
          </a:prstGeom>
          <a:solidFill>
            <a:srgbClr val="E7E8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2B44E7"/>
                </a:solidFill>
                <a:latin typeface="Arial"/>
              </a:rPr>
              <a:t>Countered</a:t>
            </a:r>
          </a:p>
        </p:txBody>
      </p:sp>
      <p:sp>
        <p:nvSpPr>
          <p:cNvPr id="29" name="TextBox 28"/>
          <p:cNvSpPr txBox="1"/>
          <p:nvPr/>
        </p:nvSpPr>
        <p:spPr>
          <a:xfrm>
            <a:off x="3922776" y="5065776"/>
            <a:ext cx="274320" cy="310896"/>
          </a:xfrm>
          <a:prstGeom prst="rect">
            <a:avLst/>
          </a:prstGeom>
          <a:noFill/>
        </p:spPr>
        <p:txBody>
          <a:bodyPr wrap="square" anchor="ctr" lIns="0" rIns="0" tIns="0" bIns="0">
            <a:spAutoFit/>
          </a:bodyPr>
          <a:lstStyle/>
          <a:p>
            <a:pPr algn="l">
              <a:lnSpc>
                <a:spcPct val="100000"/>
              </a:lnSpc>
            </a:pPr>
            <a:r>
              <a:rPr sz="1500" b="1" i="0">
                <a:solidFill>
                  <a:srgbClr val="908F8E"/>
                </a:solidFill>
                <a:latin typeface="Arial"/>
              </a:rPr>
              <a:t>›</a:t>
            </a:r>
          </a:p>
        </p:txBody>
      </p:sp>
      <p:sp>
        <p:nvSpPr>
          <p:cNvPr id="30" name="Rounded Rectangle 29"/>
          <p:cNvSpPr/>
          <p:nvPr/>
        </p:nvSpPr>
        <p:spPr>
          <a:xfrm>
            <a:off x="4306824" y="5074920"/>
            <a:ext cx="1335024" cy="310896"/>
          </a:xfrm>
          <a:prstGeom prst="roundRect">
            <a:avLst>
              <a:gd name="adj" fmla="val 50000"/>
            </a:avLst>
          </a:prstGeom>
          <a:solidFill>
            <a:srgbClr val="E7E8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2B44E7"/>
                </a:solidFill>
                <a:latin typeface="Arial"/>
              </a:rPr>
              <a:t>Accepted</a:t>
            </a:r>
          </a:p>
        </p:txBody>
      </p:sp>
      <p:sp>
        <p:nvSpPr>
          <p:cNvPr id="31" name="TextBox 30"/>
          <p:cNvSpPr txBox="1"/>
          <p:nvPr/>
        </p:nvSpPr>
        <p:spPr>
          <a:xfrm>
            <a:off x="6099048" y="5065776"/>
            <a:ext cx="4572000" cy="310896"/>
          </a:xfrm>
          <a:prstGeom prst="rect">
            <a:avLst/>
          </a:prstGeom>
          <a:noFill/>
        </p:spPr>
        <p:txBody>
          <a:bodyPr wrap="square" anchor="ctr" lIns="0" rIns="0" tIns="0" bIns="0">
            <a:spAutoFit/>
          </a:bodyPr>
          <a:lstStyle/>
          <a:p>
            <a:pPr algn="l">
              <a:lnSpc>
                <a:spcPct val="100000"/>
              </a:lnSpc>
            </a:pPr>
            <a:r>
              <a:rPr sz="1050" b="0" i="0">
                <a:solidFill>
                  <a:srgbClr val="908F8E"/>
                </a:solidFill>
                <a:latin typeface="Consolas"/>
              </a:rPr>
              <a:t>terminal: Rejected  ·  Cancelled  ·  Expired</a:t>
            </a:r>
          </a:p>
        </p:txBody>
      </p:sp>
      <p:sp>
        <p:nvSpPr>
          <p:cNvPr id="32" name="Rectangle 31"/>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4" name="TextBox 33"/>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ON YOUR CLOCK</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Schedule a stream for later.</a:t>
            </a:r>
          </a:p>
        </p:txBody>
      </p:sp>
      <p:sp>
        <p:nvSpPr>
          <p:cNvPr id="19" name="Oval 18"/>
          <p:cNvSpPr/>
          <p:nvPr/>
        </p:nvSpPr>
        <p:spPr>
          <a:xfrm>
            <a:off x="777240" y="242773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377440"/>
            <a:ext cx="1025956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Escrow now, accrue later  </a:t>
            </a:r>
            <a:r>
              <a:rPr sz="1450" b="0" i="0">
                <a:solidFill>
                  <a:srgbClr val="757474"/>
                </a:solidFill>
                <a:latin typeface="Arial"/>
              </a:rPr>
              <a:t>set a future start and the deposit is committed on creation, but nothing streams until the start time arrives.</a:t>
            </a:r>
          </a:p>
        </p:txBody>
      </p:sp>
      <p:sp>
        <p:nvSpPr>
          <p:cNvPr id="21" name="Oval 20"/>
          <p:cNvSpPr/>
          <p:nvPr/>
        </p:nvSpPr>
        <p:spPr>
          <a:xfrm>
            <a:off x="777240" y="3177540"/>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3127248"/>
            <a:ext cx="1025956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Up to a year ahead  </a:t>
            </a:r>
            <a:r>
              <a:rPr sz="1450" b="0" i="0">
                <a:solidFill>
                  <a:srgbClr val="757474"/>
                </a:solidFill>
                <a:latin typeface="Arial"/>
              </a:rPr>
              <a:t>schedule any start within the next 365 days, with its own status and a live countdown on the card.</a:t>
            </a:r>
          </a:p>
        </p:txBody>
      </p:sp>
      <p:sp>
        <p:nvSpPr>
          <p:cNvPr id="23" name="Oval 22"/>
          <p:cNvSpPr/>
          <p:nvPr/>
        </p:nvSpPr>
        <p:spPr>
          <a:xfrm>
            <a:off x="777240" y="3927348"/>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3877056"/>
            <a:ext cx="10259568" cy="822960"/>
          </a:xfrm>
          <a:prstGeom prst="rect">
            <a:avLst/>
          </a:prstGeom>
          <a:noFill/>
        </p:spPr>
        <p:txBody>
          <a:bodyPr wrap="square" anchor="t" lIns="0" rIns="0" tIns="0" bIns="0">
            <a:spAutoFit/>
          </a:bodyPr>
          <a:lstStyle/>
          <a:p>
            <a:pPr algn="l">
              <a:lnSpc>
                <a:spcPct val="106000"/>
              </a:lnSpc>
            </a:pPr>
            <a:r>
              <a:rPr sz="1450" b="1" i="0">
                <a:solidFill>
                  <a:srgbClr val="171618"/>
                </a:solidFill>
                <a:latin typeface="Arial"/>
              </a:rPr>
              <a:t>Exact across the lifecycle  </a:t>
            </a:r>
            <a:r>
              <a:rPr sz="1450" b="0" i="0">
                <a:solidFill>
                  <a:srgbClr val="757474"/>
                </a:solidFill>
                <a:latin typeface="Arial"/>
              </a:rPr>
              <a:t>the accounting stays precise through every stage: scheduled, live, awaiting the final claim, and settled.</a:t>
            </a:r>
          </a:p>
        </p:txBody>
      </p:sp>
      <p:sp>
        <p:nvSpPr>
          <p:cNvPr id="25" name="Rectangle 24"/>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27" name="TextBox 26"/>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WHO IS WHO</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400" b="1" i="0">
                <a:solidFill>
                  <a:srgbClr val="171618"/>
                </a:solidFill>
                <a:latin typeface="Arial"/>
              </a:rPr>
              <a:t>Human names for on-chain addresses.</a:t>
            </a:r>
          </a:p>
        </p:txBody>
      </p:sp>
      <p:sp>
        <p:nvSpPr>
          <p:cNvPr id="19" name="Oval 18"/>
          <p:cNvSpPr/>
          <p:nvPr/>
        </p:nvSpPr>
        <p:spPr>
          <a:xfrm>
            <a:off x="777240" y="233629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228600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Claim a public @handle  </a:t>
            </a:r>
            <a:r>
              <a:rPr sz="1350" b="0" i="0">
                <a:solidFill>
                  <a:srgbClr val="757474"/>
                </a:solidFill>
                <a:latin typeface="Arial"/>
              </a:rPr>
              <a:t>validated on the spot and changeable once every 14 days.</a:t>
            </a:r>
          </a:p>
        </p:txBody>
      </p:sp>
      <p:sp>
        <p:nvSpPr>
          <p:cNvPr id="21" name="Oval 20"/>
          <p:cNvSpPr/>
          <p:nvPr/>
        </p:nvSpPr>
        <p:spPr>
          <a:xfrm>
            <a:off x="777240" y="297637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3272" y="292608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Add a display name  </a:t>
            </a:r>
            <a:r>
              <a:rPr sz="1350" b="0" i="0">
                <a:solidFill>
                  <a:srgbClr val="757474"/>
                </a:solidFill>
                <a:latin typeface="Arial"/>
              </a:rPr>
              <a:t>an optional friendlier name shown alongside the handle.</a:t>
            </a:r>
          </a:p>
        </p:txBody>
      </p:sp>
      <p:sp>
        <p:nvSpPr>
          <p:cNvPr id="23" name="Oval 22"/>
          <p:cNvSpPr/>
          <p:nvPr/>
        </p:nvSpPr>
        <p:spPr>
          <a:xfrm>
            <a:off x="777240" y="361645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2" y="356616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Pay by handle or address  </a:t>
            </a:r>
            <a:r>
              <a:rPr sz="1350" b="0" i="0">
                <a:solidFill>
                  <a:srgbClr val="757474"/>
                </a:solidFill>
                <a:latin typeface="Arial"/>
              </a:rPr>
              <a:t>Cadence resolves either into the right wallet.</a:t>
            </a:r>
          </a:p>
        </p:txBody>
      </p:sp>
      <p:sp>
        <p:nvSpPr>
          <p:cNvPr id="25" name="Oval 24"/>
          <p:cNvSpPr/>
          <p:nvPr/>
        </p:nvSpPr>
        <p:spPr>
          <a:xfrm>
            <a:off x="777240" y="425653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2" y="420624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Save payees you use often  </a:t>
            </a:r>
            <a:r>
              <a:rPr sz="1350" b="0" i="0">
                <a:solidFill>
                  <a:srgbClr val="757474"/>
                </a:solidFill>
                <a:latin typeface="Arial"/>
              </a:rPr>
              <a:t>so opening the next stream to them is instant.</a:t>
            </a:r>
          </a:p>
        </p:txBody>
      </p:sp>
      <p:sp>
        <p:nvSpPr>
          <p:cNvPr id="27" name="Oval 26"/>
          <p:cNvSpPr/>
          <p:nvPr/>
        </p:nvSpPr>
        <p:spPr>
          <a:xfrm>
            <a:off x="777240" y="489661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33272" y="484632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Notification email that is not a login  </a:t>
            </a:r>
            <a:r>
              <a:rPr sz="1350" b="0" i="0">
                <a:solidFill>
                  <a:srgbClr val="757474"/>
                </a:solidFill>
                <a:latin typeface="Arial"/>
              </a:rPr>
              <a:t>wallet-first users can add an address for account emails. No wallet is minted for it and sign-in stays wallet-only.</a:t>
            </a:r>
          </a:p>
        </p:txBody>
      </p:sp>
      <p:sp>
        <p:nvSpPr>
          <p:cNvPr id="29" name="Rectangle 28"/>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1" name="TextBox 30"/>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KEEP THE RECORD</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Proof for both sides, on demand.</a:t>
            </a:r>
          </a:p>
        </p:txBody>
      </p:sp>
      <p:sp>
        <p:nvSpPr>
          <p:cNvPr id="19" name="Rounded Rectangle 18"/>
          <p:cNvSpPr/>
          <p:nvPr/>
        </p:nvSpPr>
        <p:spPr>
          <a:xfrm>
            <a:off x="777240" y="2377440"/>
            <a:ext cx="5175504" cy="3108960"/>
          </a:xfrm>
          <a:prstGeom prst="roundRect">
            <a:avLst>
              <a:gd name="adj" fmla="val 45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143000" y="2724912"/>
            <a:ext cx="457200" cy="457200"/>
          </a:xfrm>
          <a:prstGeom prst="roundRect">
            <a:avLst>
              <a:gd name="adj" fmla="val 25000"/>
            </a:avLst>
          </a:prstGeom>
          <a:solidFill>
            <a:srgbClr val="17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Freeform 20"/>
          <p:cNvSpPr/>
          <p:nvPr/>
        </p:nvSpPr>
        <p:spPr>
          <a:xfrm>
            <a:off x="1235869" y="2903506"/>
            <a:ext cx="271462" cy="100012"/>
          </a:xfrm>
          <a:custGeom>
            <a:avLst/>
            <a:gdLst/>
            <a:ahLst/>
            <a:cxnLst/>
            <a:rect l="l" t="t" r="r" b="b"/>
            <a:pathLst>
              <a:path w="271462" h="100012">
                <a:moveTo>
                  <a:pt x="0" y="100012"/>
                </a:moveTo>
                <a:lnTo>
                  <a:pt x="5655" y="99051"/>
                </a:lnTo>
                <a:lnTo>
                  <a:pt x="11311" y="96205"/>
                </a:lnTo>
                <a:lnTo>
                  <a:pt x="16966" y="91582"/>
                </a:lnTo>
                <a:lnTo>
                  <a:pt x="22622" y="85362"/>
                </a:lnTo>
                <a:lnTo>
                  <a:pt x="28277" y="77783"/>
                </a:lnTo>
                <a:lnTo>
                  <a:pt x="33933" y="69135"/>
                </a:lnTo>
                <a:lnTo>
                  <a:pt x="39588" y="59753"/>
                </a:lnTo>
                <a:lnTo>
                  <a:pt x="45244" y="49996"/>
                </a:lnTo>
                <a:lnTo>
                  <a:pt x="50899" y="40239"/>
                </a:lnTo>
                <a:lnTo>
                  <a:pt x="56555" y="30858"/>
                </a:lnTo>
                <a:lnTo>
                  <a:pt x="62210" y="22212"/>
                </a:lnTo>
                <a:lnTo>
                  <a:pt x="67865" y="14636"/>
                </a:lnTo>
                <a:lnTo>
                  <a:pt x="73521" y="8418"/>
                </a:lnTo>
                <a:lnTo>
                  <a:pt x="79176" y="3800"/>
                </a:lnTo>
                <a:lnTo>
                  <a:pt x="84832" y="957"/>
                </a:lnTo>
                <a:lnTo>
                  <a:pt x="90487" y="0"/>
                </a:lnTo>
                <a:lnTo>
                  <a:pt x="96143" y="965"/>
                </a:lnTo>
                <a:lnTo>
                  <a:pt x="101798" y="3815"/>
                </a:lnTo>
                <a:lnTo>
                  <a:pt x="107454" y="8441"/>
                </a:lnTo>
                <a:lnTo>
                  <a:pt x="113109" y="14665"/>
                </a:lnTo>
                <a:lnTo>
                  <a:pt x="118765" y="22247"/>
                </a:lnTo>
                <a:lnTo>
                  <a:pt x="124420" y="30896"/>
                </a:lnTo>
                <a:lnTo>
                  <a:pt x="130076" y="40279"/>
                </a:lnTo>
                <a:lnTo>
                  <a:pt x="135731" y="50037"/>
                </a:lnTo>
                <a:lnTo>
                  <a:pt x="141386" y="59793"/>
                </a:lnTo>
                <a:lnTo>
                  <a:pt x="147042" y="69173"/>
                </a:lnTo>
                <a:lnTo>
                  <a:pt x="152697" y="77817"/>
                </a:lnTo>
                <a:lnTo>
                  <a:pt x="158353" y="85391"/>
                </a:lnTo>
                <a:lnTo>
                  <a:pt x="164008" y="91605"/>
                </a:lnTo>
                <a:lnTo>
                  <a:pt x="169664" y="96220"/>
                </a:lnTo>
                <a:lnTo>
                  <a:pt x="175319" y="99059"/>
                </a:lnTo>
                <a:lnTo>
                  <a:pt x="180975" y="100012"/>
                </a:lnTo>
                <a:lnTo>
                  <a:pt x="186630" y="99043"/>
                </a:lnTo>
                <a:lnTo>
                  <a:pt x="192286" y="96189"/>
                </a:lnTo>
                <a:lnTo>
                  <a:pt x="197941" y="91559"/>
                </a:lnTo>
                <a:lnTo>
                  <a:pt x="203597" y="85333"/>
                </a:lnTo>
                <a:lnTo>
                  <a:pt x="209252" y="77748"/>
                </a:lnTo>
                <a:lnTo>
                  <a:pt x="214907" y="69097"/>
                </a:lnTo>
                <a:lnTo>
                  <a:pt x="220563" y="59713"/>
                </a:lnTo>
                <a:lnTo>
                  <a:pt x="226218" y="49955"/>
                </a:lnTo>
                <a:lnTo>
                  <a:pt x="231874" y="40199"/>
                </a:lnTo>
                <a:lnTo>
                  <a:pt x="237529" y="30820"/>
                </a:lnTo>
                <a:lnTo>
                  <a:pt x="243185" y="22178"/>
                </a:lnTo>
                <a:lnTo>
                  <a:pt x="248840" y="14606"/>
                </a:lnTo>
                <a:lnTo>
                  <a:pt x="254496" y="8395"/>
                </a:lnTo>
                <a:lnTo>
                  <a:pt x="260151" y="3784"/>
                </a:lnTo>
                <a:lnTo>
                  <a:pt x="265807" y="949"/>
                </a:lnTo>
                <a:lnTo>
                  <a:pt x="271462" y="0"/>
                </a:lnTo>
              </a:path>
            </a:pathLst>
          </a:custGeom>
          <a:noFill/>
          <a:ln w="43815" cap="rnd">
            <a:solidFill>
              <a:srgbClr val="2B44E7"/>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746504" y="2770632"/>
            <a:ext cx="3986784" cy="457200"/>
          </a:xfrm>
          <a:prstGeom prst="rect">
            <a:avLst/>
          </a:prstGeom>
          <a:noFill/>
        </p:spPr>
        <p:txBody>
          <a:bodyPr wrap="square" anchor="ctr" lIns="0" rIns="0" tIns="0" bIns="0">
            <a:spAutoFit/>
          </a:bodyPr>
          <a:lstStyle/>
          <a:p>
            <a:pPr algn="l">
              <a:lnSpc>
                <a:spcPct val="100000"/>
              </a:lnSpc>
            </a:pPr>
            <a:r>
              <a:rPr sz="1900" b="1" i="0">
                <a:solidFill>
                  <a:srgbClr val="171618"/>
                </a:solidFill>
                <a:latin typeface="Arial"/>
              </a:rPr>
              <a:t>Stream receipts</a:t>
            </a:r>
          </a:p>
        </p:txBody>
      </p:sp>
      <p:sp>
        <p:nvSpPr>
          <p:cNvPr id="23" name="TextBox 22"/>
          <p:cNvSpPr txBox="1"/>
          <p:nvPr/>
        </p:nvSpPr>
        <p:spPr>
          <a:xfrm>
            <a:off x="1143000" y="3520440"/>
            <a:ext cx="4443984" cy="1828800"/>
          </a:xfrm>
          <a:prstGeom prst="rect">
            <a:avLst/>
          </a:prstGeom>
          <a:noFill/>
        </p:spPr>
        <p:txBody>
          <a:bodyPr wrap="square" anchor="t" lIns="0" rIns="0" tIns="0" bIns="0">
            <a:spAutoFit/>
          </a:bodyPr>
          <a:lstStyle/>
          <a:p>
            <a:pPr algn="l">
              <a:lnSpc>
                <a:spcPct val="120000"/>
              </a:lnSpc>
            </a:pPr>
            <a:r>
              <a:rPr sz="1300" b="0" i="0">
                <a:solidFill>
                  <a:srgbClr val="757474"/>
                </a:solidFill>
                <a:latin typeface="Arial"/>
              </a:rPr>
              <a:t>A branded, downloadable, shareable image for any single stream. The figures read live from the contract, and a faint waveform and wordmark guilloche runs across the card so altering a number in an editor is obvious.</a:t>
            </a:r>
          </a:p>
        </p:txBody>
      </p:sp>
      <p:sp>
        <p:nvSpPr>
          <p:cNvPr id="24" name="Rounded Rectangle 23"/>
          <p:cNvSpPr/>
          <p:nvPr/>
        </p:nvSpPr>
        <p:spPr>
          <a:xfrm>
            <a:off x="6236208" y="2377440"/>
            <a:ext cx="5175504" cy="3108960"/>
          </a:xfrm>
          <a:prstGeom prst="roundRect">
            <a:avLst>
              <a:gd name="adj" fmla="val 45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601968" y="2724912"/>
            <a:ext cx="457200" cy="457200"/>
          </a:xfrm>
          <a:prstGeom prst="roundRect">
            <a:avLst>
              <a:gd name="adj" fmla="val 25000"/>
            </a:avLst>
          </a:prstGeom>
          <a:solidFill>
            <a:srgbClr val="17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Freeform 25"/>
          <p:cNvSpPr/>
          <p:nvPr/>
        </p:nvSpPr>
        <p:spPr>
          <a:xfrm>
            <a:off x="6694837" y="2903506"/>
            <a:ext cx="271462" cy="100012"/>
          </a:xfrm>
          <a:custGeom>
            <a:avLst/>
            <a:gdLst/>
            <a:ahLst/>
            <a:cxnLst/>
            <a:rect l="l" t="t" r="r" b="b"/>
            <a:pathLst>
              <a:path w="271462" h="100012">
                <a:moveTo>
                  <a:pt x="0" y="100012"/>
                </a:moveTo>
                <a:lnTo>
                  <a:pt x="5655" y="99051"/>
                </a:lnTo>
                <a:lnTo>
                  <a:pt x="11311" y="96205"/>
                </a:lnTo>
                <a:lnTo>
                  <a:pt x="16966" y="91582"/>
                </a:lnTo>
                <a:lnTo>
                  <a:pt x="22622" y="85362"/>
                </a:lnTo>
                <a:lnTo>
                  <a:pt x="28277" y="77783"/>
                </a:lnTo>
                <a:lnTo>
                  <a:pt x="33933" y="69135"/>
                </a:lnTo>
                <a:lnTo>
                  <a:pt x="39588" y="59753"/>
                </a:lnTo>
                <a:lnTo>
                  <a:pt x="45244" y="49996"/>
                </a:lnTo>
                <a:lnTo>
                  <a:pt x="50899" y="40239"/>
                </a:lnTo>
                <a:lnTo>
                  <a:pt x="56555" y="30858"/>
                </a:lnTo>
                <a:lnTo>
                  <a:pt x="62210" y="22212"/>
                </a:lnTo>
                <a:lnTo>
                  <a:pt x="67865" y="14636"/>
                </a:lnTo>
                <a:lnTo>
                  <a:pt x="73521" y="8418"/>
                </a:lnTo>
                <a:lnTo>
                  <a:pt x="79176" y="3800"/>
                </a:lnTo>
                <a:lnTo>
                  <a:pt x="84832" y="957"/>
                </a:lnTo>
                <a:lnTo>
                  <a:pt x="90487" y="0"/>
                </a:lnTo>
                <a:lnTo>
                  <a:pt x="96143" y="965"/>
                </a:lnTo>
                <a:lnTo>
                  <a:pt x="101798" y="3815"/>
                </a:lnTo>
                <a:lnTo>
                  <a:pt x="107454" y="8441"/>
                </a:lnTo>
                <a:lnTo>
                  <a:pt x="113109" y="14665"/>
                </a:lnTo>
                <a:lnTo>
                  <a:pt x="118765" y="22247"/>
                </a:lnTo>
                <a:lnTo>
                  <a:pt x="124420" y="30896"/>
                </a:lnTo>
                <a:lnTo>
                  <a:pt x="130076" y="40279"/>
                </a:lnTo>
                <a:lnTo>
                  <a:pt x="135731" y="50037"/>
                </a:lnTo>
                <a:lnTo>
                  <a:pt x="141386" y="59793"/>
                </a:lnTo>
                <a:lnTo>
                  <a:pt x="147042" y="69173"/>
                </a:lnTo>
                <a:lnTo>
                  <a:pt x="152697" y="77817"/>
                </a:lnTo>
                <a:lnTo>
                  <a:pt x="158353" y="85391"/>
                </a:lnTo>
                <a:lnTo>
                  <a:pt x="164008" y="91605"/>
                </a:lnTo>
                <a:lnTo>
                  <a:pt x="169664" y="96220"/>
                </a:lnTo>
                <a:lnTo>
                  <a:pt x="175319" y="99059"/>
                </a:lnTo>
                <a:lnTo>
                  <a:pt x="180975" y="100012"/>
                </a:lnTo>
                <a:lnTo>
                  <a:pt x="186630" y="99043"/>
                </a:lnTo>
                <a:lnTo>
                  <a:pt x="192286" y="96189"/>
                </a:lnTo>
                <a:lnTo>
                  <a:pt x="197941" y="91559"/>
                </a:lnTo>
                <a:lnTo>
                  <a:pt x="203597" y="85333"/>
                </a:lnTo>
                <a:lnTo>
                  <a:pt x="209252" y="77748"/>
                </a:lnTo>
                <a:lnTo>
                  <a:pt x="214907" y="69097"/>
                </a:lnTo>
                <a:lnTo>
                  <a:pt x="220563" y="59713"/>
                </a:lnTo>
                <a:lnTo>
                  <a:pt x="226218" y="49955"/>
                </a:lnTo>
                <a:lnTo>
                  <a:pt x="231874" y="40199"/>
                </a:lnTo>
                <a:lnTo>
                  <a:pt x="237529" y="30820"/>
                </a:lnTo>
                <a:lnTo>
                  <a:pt x="243185" y="22178"/>
                </a:lnTo>
                <a:lnTo>
                  <a:pt x="248840" y="14606"/>
                </a:lnTo>
                <a:lnTo>
                  <a:pt x="254496" y="8395"/>
                </a:lnTo>
                <a:lnTo>
                  <a:pt x="260151" y="3784"/>
                </a:lnTo>
                <a:lnTo>
                  <a:pt x="265807" y="949"/>
                </a:lnTo>
                <a:lnTo>
                  <a:pt x="271462" y="0"/>
                </a:lnTo>
              </a:path>
            </a:pathLst>
          </a:custGeom>
          <a:noFill/>
          <a:ln w="43815" cap="rnd">
            <a:solidFill>
              <a:srgbClr val="2B44E7"/>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05472" y="2770632"/>
            <a:ext cx="3986784" cy="457200"/>
          </a:xfrm>
          <a:prstGeom prst="rect">
            <a:avLst/>
          </a:prstGeom>
          <a:noFill/>
        </p:spPr>
        <p:txBody>
          <a:bodyPr wrap="square" anchor="ctr" lIns="0" rIns="0" tIns="0" bIns="0">
            <a:spAutoFit/>
          </a:bodyPr>
          <a:lstStyle/>
          <a:p>
            <a:pPr algn="l">
              <a:lnSpc>
                <a:spcPct val="100000"/>
              </a:lnSpc>
            </a:pPr>
            <a:r>
              <a:rPr sz="1900" b="1" i="0">
                <a:solidFill>
                  <a:srgbClr val="171618"/>
                </a:solidFill>
                <a:latin typeface="Arial"/>
              </a:rPr>
              <a:t>Account statements</a:t>
            </a:r>
          </a:p>
        </p:txBody>
      </p:sp>
      <p:sp>
        <p:nvSpPr>
          <p:cNvPr id="28" name="TextBox 27"/>
          <p:cNvSpPr txBox="1"/>
          <p:nvPr/>
        </p:nvSpPr>
        <p:spPr>
          <a:xfrm>
            <a:off x="6601968" y="3520440"/>
            <a:ext cx="4443984" cy="1828800"/>
          </a:xfrm>
          <a:prstGeom prst="rect">
            <a:avLst/>
          </a:prstGeom>
          <a:noFill/>
        </p:spPr>
        <p:txBody>
          <a:bodyPr wrap="square" anchor="t" lIns="0" rIns="0" tIns="0" bIns="0">
            <a:spAutoFit/>
          </a:bodyPr>
          <a:lstStyle/>
          <a:p>
            <a:pPr algn="l">
              <a:lnSpc>
                <a:spcPct val="120000"/>
              </a:lnSpc>
            </a:pPr>
            <a:r>
              <a:rPr sz="1300" b="0" i="0">
                <a:solidFill>
                  <a:srgbClr val="757474"/>
                </a:solidFill>
                <a:latin typeface="Arial"/>
              </a:rPr>
              <a:t>A branded PDF across any date range, status, or text search. Built from the same on-chain figures, it is ready to file or hand off.</a:t>
            </a:r>
          </a:p>
        </p:txBody>
      </p:sp>
      <p:sp>
        <p:nvSpPr>
          <p:cNvPr id="29" name="Rectangle 28"/>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1" name="TextBox 30"/>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STAY IN THE LOOP</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200" b="1" i="0">
                <a:solidFill>
                  <a:srgbClr val="171618"/>
                </a:solidFill>
                <a:latin typeface="Arial"/>
              </a:rPr>
              <a:t>Account emails that look like the product.</a:t>
            </a:r>
          </a:p>
        </p:txBody>
      </p:sp>
      <p:sp>
        <p:nvSpPr>
          <p:cNvPr id="19" name="TextBox 18"/>
          <p:cNvSpPr txBox="1"/>
          <p:nvPr/>
        </p:nvSpPr>
        <p:spPr>
          <a:xfrm>
            <a:off x="777240" y="2148840"/>
            <a:ext cx="10424160" cy="731520"/>
          </a:xfrm>
          <a:prstGeom prst="rect">
            <a:avLst/>
          </a:prstGeom>
          <a:noFill/>
        </p:spPr>
        <p:txBody>
          <a:bodyPr wrap="square" anchor="t" lIns="0" rIns="0" tIns="0" bIns="0">
            <a:spAutoFit/>
          </a:bodyPr>
          <a:lstStyle/>
          <a:p>
            <a:pPr algn="l">
              <a:lnSpc>
                <a:spcPct val="116000"/>
              </a:lnSpc>
            </a:pPr>
            <a:r>
              <a:rPr sz="1450" b="0" i="0">
                <a:solidFill>
                  <a:srgbClr val="757474"/>
                </a:solidFill>
                <a:latin typeface="Arial"/>
              </a:rPr>
              <a:t>Cadence sends on-brand notifications for the moments that matter, to whatever address is linked to the account.</a:t>
            </a:r>
          </a:p>
        </p:txBody>
      </p:sp>
      <p:sp>
        <p:nvSpPr>
          <p:cNvPr id="20" name="Rounded Rectangle 19"/>
          <p:cNvSpPr/>
          <p:nvPr/>
        </p:nvSpPr>
        <p:spPr>
          <a:xfrm>
            <a:off x="777240" y="3063240"/>
            <a:ext cx="1207008" cy="310896"/>
          </a:xfrm>
          <a:prstGeom prst="roundRect">
            <a:avLst>
              <a:gd name="adj" fmla="val 50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171618"/>
                </a:solidFill>
                <a:latin typeface="Arial"/>
              </a:rPr>
              <a:t>Welcome</a:t>
            </a:r>
          </a:p>
        </p:txBody>
      </p:sp>
      <p:sp>
        <p:nvSpPr>
          <p:cNvPr id="21" name="Rounded Rectangle 20"/>
          <p:cNvSpPr/>
          <p:nvPr/>
        </p:nvSpPr>
        <p:spPr>
          <a:xfrm>
            <a:off x="2185416" y="3063240"/>
            <a:ext cx="1207008" cy="310896"/>
          </a:xfrm>
          <a:prstGeom prst="roundRect">
            <a:avLst>
              <a:gd name="adj" fmla="val 50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171618"/>
                </a:solidFill>
                <a:latin typeface="Arial"/>
              </a:rPr>
              <a:t>Sign-in</a:t>
            </a:r>
          </a:p>
        </p:txBody>
      </p:sp>
      <p:sp>
        <p:nvSpPr>
          <p:cNvPr id="22" name="Rounded Rectangle 21"/>
          <p:cNvSpPr/>
          <p:nvPr/>
        </p:nvSpPr>
        <p:spPr>
          <a:xfrm>
            <a:off x="3593592" y="3063240"/>
            <a:ext cx="2103120" cy="310896"/>
          </a:xfrm>
          <a:prstGeom prst="roundRect">
            <a:avLst>
              <a:gd name="adj" fmla="val 50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171618"/>
                </a:solidFill>
                <a:latin typeface="Arial"/>
              </a:rPr>
              <a:t>Stream started</a:t>
            </a:r>
          </a:p>
        </p:txBody>
      </p:sp>
      <p:sp>
        <p:nvSpPr>
          <p:cNvPr id="23" name="Rounded Rectangle 22"/>
          <p:cNvSpPr/>
          <p:nvPr/>
        </p:nvSpPr>
        <p:spPr>
          <a:xfrm>
            <a:off x="5897880" y="3063240"/>
            <a:ext cx="2359152" cy="310896"/>
          </a:xfrm>
          <a:prstGeom prst="roundRect">
            <a:avLst>
              <a:gd name="adj" fmla="val 50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171618"/>
                </a:solidFill>
                <a:latin typeface="Arial"/>
              </a:rPr>
              <a:t>Request received</a:t>
            </a:r>
          </a:p>
        </p:txBody>
      </p:sp>
      <p:sp>
        <p:nvSpPr>
          <p:cNvPr id="24" name="Rounded Rectangle 23"/>
          <p:cNvSpPr/>
          <p:nvPr/>
        </p:nvSpPr>
        <p:spPr>
          <a:xfrm>
            <a:off x="8458200" y="3063240"/>
            <a:ext cx="1975104" cy="310896"/>
          </a:xfrm>
          <a:prstGeom prst="roundRect">
            <a:avLst>
              <a:gd name="adj" fmla="val 50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171618"/>
                </a:solidFill>
                <a:latin typeface="Arial"/>
              </a:rPr>
              <a:t>Counter offer</a:t>
            </a:r>
          </a:p>
        </p:txBody>
      </p:sp>
      <p:sp>
        <p:nvSpPr>
          <p:cNvPr id="25" name="Rounded Rectangle 24"/>
          <p:cNvSpPr/>
          <p:nvPr/>
        </p:nvSpPr>
        <p:spPr>
          <a:xfrm>
            <a:off x="777240" y="3520440"/>
            <a:ext cx="1207008" cy="310896"/>
          </a:xfrm>
          <a:prstGeom prst="roundRect">
            <a:avLst>
              <a:gd name="adj" fmla="val 50000"/>
            </a:avLst>
          </a:prstGeom>
          <a:solidFill>
            <a:srgbClr val="FFFFFF"/>
          </a:solidFill>
          <a:ln w="12700">
            <a:solidFill>
              <a:srgbClr val="E8E8E8"/>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950" b="1" i="0" spc="40">
                <a:solidFill>
                  <a:srgbClr val="171618"/>
                </a:solidFill>
                <a:latin typeface="Arial"/>
              </a:rPr>
              <a:t>Receipt</a:t>
            </a:r>
          </a:p>
        </p:txBody>
      </p:sp>
      <p:sp>
        <p:nvSpPr>
          <p:cNvPr id="26" name="Oval 25"/>
          <p:cNvSpPr/>
          <p:nvPr/>
        </p:nvSpPr>
        <p:spPr>
          <a:xfrm>
            <a:off x="777240" y="4027932"/>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3977640"/>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Privacy kept server-side  </a:t>
            </a:r>
            <a:r>
              <a:rPr sz="1350" b="0" i="0">
                <a:solidFill>
                  <a:srgbClr val="757474"/>
                </a:solidFill>
                <a:latin typeface="Arial"/>
              </a:rPr>
              <a:t>the counterparty's address is resolved to an email on the server and never exposed to the browser.</a:t>
            </a:r>
          </a:p>
        </p:txBody>
      </p:sp>
      <p:sp>
        <p:nvSpPr>
          <p:cNvPr id="28" name="Oval 27"/>
          <p:cNvSpPr/>
          <p:nvPr/>
        </p:nvSpPr>
        <p:spPr>
          <a:xfrm>
            <a:off x="777240" y="4741164"/>
            <a:ext cx="100584" cy="100584"/>
          </a:xfrm>
          <a:prstGeom prst="ellipse">
            <a:avLst/>
          </a:prstGeom>
          <a:solidFill>
            <a:srgbClr val="2B44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690872"/>
            <a:ext cx="10259568" cy="822960"/>
          </a:xfrm>
          <a:prstGeom prst="rect">
            <a:avLst/>
          </a:prstGeom>
          <a:noFill/>
        </p:spPr>
        <p:txBody>
          <a:bodyPr wrap="square" anchor="t" lIns="0" rIns="0" tIns="0" bIns="0">
            <a:spAutoFit/>
          </a:bodyPr>
          <a:lstStyle/>
          <a:p>
            <a:pPr algn="l">
              <a:lnSpc>
                <a:spcPct val="106000"/>
              </a:lnSpc>
            </a:pPr>
            <a:r>
              <a:rPr sz="1350" b="1" i="0">
                <a:solidFill>
                  <a:srgbClr val="171618"/>
                </a:solidFill>
                <a:latin typeface="Arial"/>
              </a:rPr>
              <a:t>Entirely optional  </a:t>
            </a:r>
            <a:r>
              <a:rPr sz="1350" b="0" i="0">
                <a:solidFill>
                  <a:srgbClr val="757474"/>
                </a:solidFill>
                <a:latin typeface="Arial"/>
              </a:rPr>
              <a:t>with no mail key configured, the app runs exactly the same and simply sends nothing.</a:t>
            </a:r>
          </a:p>
        </p:txBody>
      </p:sp>
      <p:sp>
        <p:nvSpPr>
          <p:cNvPr id="30" name="Rectangle 29"/>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2" name="TextBox 31"/>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202346"/>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51497865" y="80415767"/>
            <a:ext cx="124872750" cy="46005748"/>
          </a:xfrm>
          <a:custGeom>
            <a:avLst/>
            <a:gdLst/>
            <a:ahLst/>
            <a:cxnLst/>
            <a:rect l="l" t="t" r="r" b="b"/>
            <a:pathLst>
              <a:path w="124872750" h="46005748">
                <a:moveTo>
                  <a:pt x="0" y="46005748"/>
                </a:moveTo>
                <a:lnTo>
                  <a:pt x="2601516" y="45563638"/>
                </a:lnTo>
                <a:lnTo>
                  <a:pt x="5203031" y="44254303"/>
                </a:lnTo>
                <a:lnTo>
                  <a:pt x="7804547" y="42128074"/>
                </a:lnTo>
                <a:lnTo>
                  <a:pt x="10406063" y="39266681"/>
                </a:lnTo>
                <a:lnTo>
                  <a:pt x="13007578" y="35780114"/>
                </a:lnTo>
                <a:lnTo>
                  <a:pt x="15609094" y="31802397"/>
                </a:lnTo>
                <a:lnTo>
                  <a:pt x="18210609" y="27486430"/>
                </a:lnTo>
                <a:lnTo>
                  <a:pt x="20812125" y="22998118"/>
                </a:lnTo>
                <a:lnTo>
                  <a:pt x="23413641" y="18509988"/>
                </a:lnTo>
                <a:lnTo>
                  <a:pt x="26015156" y="14194563"/>
                </a:lnTo>
                <a:lnTo>
                  <a:pt x="28616672" y="10217725"/>
                </a:lnTo>
                <a:lnTo>
                  <a:pt x="31218187" y="6732341"/>
                </a:lnTo>
                <a:lnTo>
                  <a:pt x="33819703" y="3872390"/>
                </a:lnTo>
                <a:lnTo>
                  <a:pt x="36421219" y="1747805"/>
                </a:lnTo>
                <a:lnTo>
                  <a:pt x="39022734" y="440254"/>
                </a:lnTo>
                <a:lnTo>
                  <a:pt x="41624250" y="0"/>
                </a:lnTo>
                <a:lnTo>
                  <a:pt x="44225766" y="443965"/>
                </a:lnTo>
                <a:lnTo>
                  <a:pt x="46827281" y="1755084"/>
                </a:lnTo>
                <a:lnTo>
                  <a:pt x="49428797" y="3882958"/>
                </a:lnTo>
                <a:lnTo>
                  <a:pt x="52030313" y="6745792"/>
                </a:lnTo>
                <a:lnTo>
                  <a:pt x="54631828" y="10233541"/>
                </a:lnTo>
                <a:lnTo>
                  <a:pt x="57233344" y="14212136"/>
                </a:lnTo>
                <a:lnTo>
                  <a:pt x="59834859" y="18528644"/>
                </a:lnTo>
                <a:lnTo>
                  <a:pt x="62436375" y="23017138"/>
                </a:lnTo>
                <a:lnTo>
                  <a:pt x="65037891" y="27505084"/>
                </a:lnTo>
                <a:lnTo>
                  <a:pt x="67639406" y="31819968"/>
                </a:lnTo>
                <a:lnTo>
                  <a:pt x="70240922" y="35795926"/>
                </a:lnTo>
                <a:lnTo>
                  <a:pt x="72842437" y="39280126"/>
                </a:lnTo>
                <a:lnTo>
                  <a:pt x="75443953" y="42138636"/>
                </a:lnTo>
                <a:lnTo>
                  <a:pt x="78045469" y="44261576"/>
                </a:lnTo>
                <a:lnTo>
                  <a:pt x="80646984" y="45567342"/>
                </a:lnTo>
                <a:lnTo>
                  <a:pt x="83248500" y="46005740"/>
                </a:lnTo>
                <a:lnTo>
                  <a:pt x="85850016" y="45559919"/>
                </a:lnTo>
                <a:lnTo>
                  <a:pt x="88451531" y="44247017"/>
                </a:lnTo>
                <a:lnTo>
                  <a:pt x="91053047" y="42117499"/>
                </a:lnTo>
                <a:lnTo>
                  <a:pt x="93654563" y="39253224"/>
                </a:lnTo>
                <a:lnTo>
                  <a:pt x="96256078" y="35764294"/>
                </a:lnTo>
                <a:lnTo>
                  <a:pt x="98857594" y="31784821"/>
                </a:lnTo>
                <a:lnTo>
                  <a:pt x="101459109" y="27467774"/>
                </a:lnTo>
                <a:lnTo>
                  <a:pt x="104060625" y="22979098"/>
                </a:lnTo>
                <a:lnTo>
                  <a:pt x="106662141" y="18491336"/>
                </a:lnTo>
                <a:lnTo>
                  <a:pt x="109263656" y="14176995"/>
                </a:lnTo>
                <a:lnTo>
                  <a:pt x="111865172" y="10201917"/>
                </a:lnTo>
                <a:lnTo>
                  <a:pt x="114466687" y="6718902"/>
                </a:lnTo>
                <a:lnTo>
                  <a:pt x="117068203" y="3861834"/>
                </a:lnTo>
                <a:lnTo>
                  <a:pt x="119669719" y="1740539"/>
                </a:lnTo>
                <a:lnTo>
                  <a:pt x="122271234" y="436558"/>
                </a:lnTo>
                <a:lnTo>
                  <a:pt x="124872750" y="16"/>
                </a:lnTo>
              </a:path>
            </a:pathLst>
          </a:custGeom>
          <a:noFill/>
          <a:ln w="2628900" cap="rnd">
            <a:solidFill>
              <a:srgbClr val="1D1F38"/>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4258FF"/>
                </a:solidFill>
                <a:latin typeface="Consolas"/>
              </a:rPr>
              <a:t>WHY ARC</a:t>
            </a:r>
          </a:p>
        </p:txBody>
      </p:sp>
      <p:sp>
        <p:nvSpPr>
          <p:cNvPr id="19" name="TextBox 18"/>
          <p:cNvSpPr txBox="1"/>
          <p:nvPr/>
        </p:nvSpPr>
        <p:spPr>
          <a:xfrm>
            <a:off x="758952" y="1060704"/>
            <a:ext cx="10607040" cy="822960"/>
          </a:xfrm>
          <a:prstGeom prst="rect">
            <a:avLst/>
          </a:prstGeom>
          <a:noFill/>
        </p:spPr>
        <p:txBody>
          <a:bodyPr wrap="square" anchor="t" lIns="0" rIns="0" tIns="0" bIns="0">
            <a:spAutoFit/>
          </a:bodyPr>
          <a:lstStyle/>
          <a:p>
            <a:pPr algn="l">
              <a:lnSpc>
                <a:spcPct val="100000"/>
              </a:lnSpc>
            </a:pPr>
            <a:r>
              <a:rPr sz="3600" b="1" i="0">
                <a:solidFill>
                  <a:srgbClr val="FFFFFF"/>
                </a:solidFill>
                <a:latin typeface="Arial"/>
              </a:rPr>
              <a:t>This only holds together on Arc.</a:t>
            </a:r>
          </a:p>
        </p:txBody>
      </p:sp>
      <p:sp>
        <p:nvSpPr>
          <p:cNvPr id="20" name="Oval 19"/>
          <p:cNvSpPr/>
          <p:nvPr/>
        </p:nvSpPr>
        <p:spPr>
          <a:xfrm>
            <a:off x="777240" y="2194560"/>
            <a:ext cx="100584" cy="100584"/>
          </a:xfrm>
          <a:prstGeom prst="ellipse">
            <a:avLst/>
          </a:prstGeom>
          <a:solidFill>
            <a:srgbClr val="425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3272" y="2148840"/>
            <a:ext cx="10241280" cy="731520"/>
          </a:xfrm>
          <a:prstGeom prst="rect">
            <a:avLst/>
          </a:prstGeom>
          <a:noFill/>
        </p:spPr>
        <p:txBody>
          <a:bodyPr wrap="square" anchor="t" lIns="0" rIns="0" tIns="0" bIns="0">
            <a:spAutoFit/>
          </a:bodyPr>
          <a:lstStyle/>
          <a:p>
            <a:pPr algn="l">
              <a:lnSpc>
                <a:spcPct val="108000"/>
              </a:lnSpc>
            </a:pPr>
            <a:r>
              <a:rPr sz="1350" b="1" i="0">
                <a:solidFill>
                  <a:srgbClr val="FFFFFF"/>
                </a:solidFill>
                <a:latin typeface="Arial"/>
              </a:rPr>
              <a:t>USDC is the native gas token.  </a:t>
            </a:r>
            <a:r>
              <a:rPr sz="1350" b="0" i="0">
                <a:solidFill>
                  <a:srgbClr val="BEBEBE"/>
                </a:solidFill>
                <a:latin typeface="Arial"/>
              </a:rPr>
              <a:t>The dollar you deposit and the gas that moves it are one asset, so earnings are always spendable. There is no separate volatile coin to go and acquire first.</a:t>
            </a:r>
          </a:p>
        </p:txBody>
      </p:sp>
      <p:sp>
        <p:nvSpPr>
          <p:cNvPr id="22" name="Oval 21"/>
          <p:cNvSpPr/>
          <p:nvPr/>
        </p:nvSpPr>
        <p:spPr>
          <a:xfrm>
            <a:off x="777240" y="2852928"/>
            <a:ext cx="100584" cy="100584"/>
          </a:xfrm>
          <a:prstGeom prst="ellipse">
            <a:avLst/>
          </a:prstGeom>
          <a:solidFill>
            <a:srgbClr val="425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 y="2807208"/>
            <a:ext cx="10241280" cy="731520"/>
          </a:xfrm>
          <a:prstGeom prst="rect">
            <a:avLst/>
          </a:prstGeom>
          <a:noFill/>
        </p:spPr>
        <p:txBody>
          <a:bodyPr wrap="square" anchor="t" lIns="0" rIns="0" tIns="0" bIns="0">
            <a:spAutoFit/>
          </a:bodyPr>
          <a:lstStyle/>
          <a:p>
            <a:pPr algn="l">
              <a:lnSpc>
                <a:spcPct val="108000"/>
              </a:lnSpc>
            </a:pPr>
            <a:r>
              <a:rPr sz="1350" b="1" i="0">
                <a:solidFill>
                  <a:srgbClr val="FFFFFF"/>
                </a:solidFill>
                <a:latin typeface="Arial"/>
              </a:rPr>
              <a:t>Sub-second deterministic finality.  </a:t>
            </a:r>
            <a:r>
              <a:rPr sz="1350" b="0" i="0">
                <a:solidFill>
                  <a:srgbClr val="BEBEBE"/>
                </a:solidFill>
                <a:latin typeface="Arial"/>
              </a:rPr>
              <a:t>Malachite BFT finalizes every block in under a second with no reorgs, which is what makes cash-out-anytime real rather than pending.</a:t>
            </a:r>
          </a:p>
        </p:txBody>
      </p:sp>
      <p:sp>
        <p:nvSpPr>
          <p:cNvPr id="24" name="Oval 23"/>
          <p:cNvSpPr/>
          <p:nvPr/>
        </p:nvSpPr>
        <p:spPr>
          <a:xfrm>
            <a:off x="777240" y="3511296"/>
            <a:ext cx="100584" cy="100584"/>
          </a:xfrm>
          <a:prstGeom prst="ellipse">
            <a:avLst/>
          </a:prstGeom>
          <a:solidFill>
            <a:srgbClr val="425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465576"/>
            <a:ext cx="10241280" cy="731520"/>
          </a:xfrm>
          <a:prstGeom prst="rect">
            <a:avLst/>
          </a:prstGeom>
          <a:noFill/>
        </p:spPr>
        <p:txBody>
          <a:bodyPr wrap="square" anchor="t" lIns="0" rIns="0" tIns="0" bIns="0">
            <a:spAutoFit/>
          </a:bodyPr>
          <a:lstStyle/>
          <a:p>
            <a:pPr algn="l">
              <a:lnSpc>
                <a:spcPct val="108000"/>
              </a:lnSpc>
            </a:pPr>
            <a:r>
              <a:rPr sz="1350" b="1" i="0">
                <a:solidFill>
                  <a:srgbClr val="FFFFFF"/>
                </a:solidFill>
                <a:latin typeface="Arial"/>
              </a:rPr>
              <a:t>Fees priced in USDC.  </a:t>
            </a:r>
            <a:r>
              <a:rPr sz="1350" b="0" i="0">
                <a:solidFill>
                  <a:srgbClr val="BEBEBE"/>
                </a:solidFill>
                <a:latin typeface="Arial"/>
              </a:rPr>
              <a:t>Base fees target about a cent, so frequent small withdrawals and top-ups stay economical instead of being eaten by gas.</a:t>
            </a:r>
          </a:p>
        </p:txBody>
      </p:sp>
      <p:sp>
        <p:nvSpPr>
          <p:cNvPr id="26" name="Oval 25"/>
          <p:cNvSpPr/>
          <p:nvPr/>
        </p:nvSpPr>
        <p:spPr>
          <a:xfrm>
            <a:off x="777240" y="4169664"/>
            <a:ext cx="100584" cy="100584"/>
          </a:xfrm>
          <a:prstGeom prst="ellipse">
            <a:avLst/>
          </a:prstGeom>
          <a:solidFill>
            <a:srgbClr val="425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4123944"/>
            <a:ext cx="10241280" cy="731520"/>
          </a:xfrm>
          <a:prstGeom prst="rect">
            <a:avLst/>
          </a:prstGeom>
          <a:noFill/>
        </p:spPr>
        <p:txBody>
          <a:bodyPr wrap="square" anchor="t" lIns="0" rIns="0" tIns="0" bIns="0">
            <a:spAutoFit/>
          </a:bodyPr>
          <a:lstStyle/>
          <a:p>
            <a:pPr algn="l">
              <a:lnSpc>
                <a:spcPct val="108000"/>
              </a:lnSpc>
            </a:pPr>
            <a:r>
              <a:rPr sz="1350" b="1" i="0">
                <a:solidFill>
                  <a:srgbClr val="FFFFFF"/>
                </a:solidFill>
                <a:latin typeface="Arial"/>
              </a:rPr>
              <a:t>Canonical Transfer events.  </a:t>
            </a:r>
            <a:r>
              <a:rPr sz="1350" b="0" i="0">
                <a:solidFill>
                  <a:srgbClr val="BEBEBE"/>
                </a:solidFill>
                <a:latin typeface="Arial"/>
              </a:rPr>
              <a:t>Every balance change emits a standard log (EIP-7708), a single source of truth for receipts and statements.</a:t>
            </a:r>
          </a:p>
        </p:txBody>
      </p:sp>
      <p:sp>
        <p:nvSpPr>
          <p:cNvPr id="28" name="Oval 27"/>
          <p:cNvSpPr/>
          <p:nvPr/>
        </p:nvSpPr>
        <p:spPr>
          <a:xfrm>
            <a:off x="777240" y="4828032"/>
            <a:ext cx="100584" cy="100584"/>
          </a:xfrm>
          <a:prstGeom prst="ellipse">
            <a:avLst/>
          </a:prstGeom>
          <a:solidFill>
            <a:srgbClr val="425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 y="4782312"/>
            <a:ext cx="10241280" cy="731520"/>
          </a:xfrm>
          <a:prstGeom prst="rect">
            <a:avLst/>
          </a:prstGeom>
          <a:noFill/>
        </p:spPr>
        <p:txBody>
          <a:bodyPr wrap="square" anchor="t" lIns="0" rIns="0" tIns="0" bIns="0">
            <a:spAutoFit/>
          </a:bodyPr>
          <a:lstStyle/>
          <a:p>
            <a:pPr algn="l">
              <a:lnSpc>
                <a:spcPct val="108000"/>
              </a:lnSpc>
            </a:pPr>
            <a:r>
              <a:rPr sz="1350" b="1" i="0">
                <a:solidFill>
                  <a:srgbClr val="FFFFFF"/>
                </a:solidFill>
                <a:latin typeface="Arial"/>
              </a:rPr>
              <a:t>Full EVM compatibility.  </a:t>
            </a:r>
            <a:r>
              <a:rPr sz="1350" b="0" i="0">
                <a:solidFill>
                  <a:srgbClr val="BEBEBE"/>
                </a:solidFill>
                <a:latin typeface="Arial"/>
              </a:rPr>
              <a:t>Plain Solidity, built and tested with Foundry, deployed with standard tooling.</a:t>
            </a:r>
          </a:p>
        </p:txBody>
      </p:sp>
      <p:sp>
        <p:nvSpPr>
          <p:cNvPr id="30" name="TextBox 29"/>
          <p:cNvSpPr txBox="1"/>
          <p:nvPr/>
        </p:nvSpPr>
        <p:spPr>
          <a:xfrm>
            <a:off x="777240" y="5623560"/>
            <a:ext cx="10424160" cy="548640"/>
          </a:xfrm>
          <a:prstGeom prst="rect">
            <a:avLst/>
          </a:prstGeom>
          <a:noFill/>
        </p:spPr>
        <p:txBody>
          <a:bodyPr wrap="square" anchor="t" lIns="0" rIns="0" tIns="0" bIns="0">
            <a:spAutoFit/>
          </a:bodyPr>
          <a:lstStyle/>
          <a:p>
            <a:pPr algn="l">
              <a:lnSpc>
                <a:spcPct val="100000"/>
              </a:lnSpc>
            </a:pPr>
            <a:r>
              <a:rPr sz="1600" b="0" i="1">
                <a:solidFill>
                  <a:srgbClr val="4258FF"/>
                </a:solidFill>
                <a:latin typeface="Georgia"/>
              </a:rPr>
              <a:t>Take any one of them away and the product stops making sense.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749808"/>
            <a:ext cx="7315200" cy="274320"/>
          </a:xfrm>
          <a:prstGeom prst="rect">
            <a:avLst/>
          </a:prstGeom>
          <a:noFill/>
        </p:spPr>
        <p:txBody>
          <a:bodyPr wrap="square" anchor="t" lIns="0" rIns="0" tIns="0" bIns="0">
            <a:spAutoFit/>
          </a:bodyPr>
          <a:lstStyle/>
          <a:p>
            <a:pPr algn="l">
              <a:lnSpc>
                <a:spcPct val="100000"/>
              </a:lnSpc>
            </a:pPr>
            <a:r>
              <a:rPr sz="1100" b="0" i="0" spc="220">
                <a:solidFill>
                  <a:srgbClr val="2B44E7"/>
                </a:solidFill>
                <a:latin typeface="Consolas"/>
              </a:rPr>
              <a:t>ARCHITECTURE</a:t>
            </a:r>
          </a:p>
        </p:txBody>
      </p:sp>
      <p:sp>
        <p:nvSpPr>
          <p:cNvPr id="18" name="TextBox 17"/>
          <p:cNvSpPr txBox="1"/>
          <p:nvPr/>
        </p:nvSpPr>
        <p:spPr>
          <a:xfrm>
            <a:off x="758952" y="1060704"/>
            <a:ext cx="10607040" cy="1188720"/>
          </a:xfrm>
          <a:prstGeom prst="rect">
            <a:avLst/>
          </a:prstGeom>
          <a:noFill/>
        </p:spPr>
        <p:txBody>
          <a:bodyPr wrap="square" anchor="t" lIns="0" rIns="0" tIns="0" bIns="0">
            <a:spAutoFit/>
          </a:bodyPr>
          <a:lstStyle/>
          <a:p>
            <a:pPr algn="l">
              <a:lnSpc>
                <a:spcPct val="98000"/>
              </a:lnSpc>
            </a:pPr>
            <a:r>
              <a:rPr sz="3600" b="1" i="0">
                <a:solidFill>
                  <a:srgbClr val="171618"/>
                </a:solidFill>
                <a:latin typeface="Arial"/>
              </a:rPr>
              <a:t>What runs the streams.</a:t>
            </a:r>
          </a:p>
        </p:txBody>
      </p:sp>
      <p:sp>
        <p:nvSpPr>
          <p:cNvPr id="19" name="TextBox 18"/>
          <p:cNvSpPr txBox="1"/>
          <p:nvPr/>
        </p:nvSpPr>
        <p:spPr>
          <a:xfrm>
            <a:off x="777240" y="2286000"/>
            <a:ext cx="2148840" cy="457200"/>
          </a:xfrm>
          <a:prstGeom prst="rect">
            <a:avLst/>
          </a:prstGeom>
          <a:noFill/>
        </p:spPr>
        <p:txBody>
          <a:bodyPr wrap="square" anchor="t" lIns="0" rIns="0" tIns="0" bIns="0">
            <a:spAutoFit/>
          </a:bodyPr>
          <a:lstStyle/>
          <a:p>
            <a:pPr algn="l">
              <a:lnSpc>
                <a:spcPct val="100000"/>
              </a:lnSpc>
            </a:pPr>
            <a:r>
              <a:rPr sz="1450" b="1" i="0">
                <a:solidFill>
                  <a:srgbClr val="2B44E7"/>
                </a:solidFill>
                <a:latin typeface="Arial"/>
              </a:rPr>
              <a:t>Contract</a:t>
            </a:r>
          </a:p>
        </p:txBody>
      </p:sp>
      <p:sp>
        <p:nvSpPr>
          <p:cNvPr id="20" name="TextBox 19"/>
          <p:cNvSpPr txBox="1"/>
          <p:nvPr/>
        </p:nvSpPr>
        <p:spPr>
          <a:xfrm>
            <a:off x="3063240" y="2286000"/>
            <a:ext cx="8321040" cy="731520"/>
          </a:xfrm>
          <a:prstGeom prst="rect">
            <a:avLst/>
          </a:prstGeom>
          <a:noFill/>
        </p:spPr>
        <p:txBody>
          <a:bodyPr wrap="square" anchor="t" lIns="0" rIns="0" tIns="0" bIns="0">
            <a:spAutoFit/>
          </a:bodyPr>
          <a:lstStyle/>
          <a:p>
            <a:pPr algn="l">
              <a:lnSpc>
                <a:spcPct val="108000"/>
              </a:lnSpc>
            </a:pPr>
            <a:r>
              <a:rPr sz="1350" b="0" i="0">
                <a:solidFill>
                  <a:srgbClr val="757474"/>
                </a:solidFill>
                <a:latin typeface="Arial"/>
              </a:rPr>
              <a:t>A Solidity contract holds each stream's escrow and does the per-second accounting on-chain, including native batch creation. Guarded against reentrancy and tested with Foundry.</a:t>
            </a:r>
          </a:p>
        </p:txBody>
      </p:sp>
      <p:sp>
        <p:nvSpPr>
          <p:cNvPr id="21" name="TextBox 20"/>
          <p:cNvSpPr txBox="1"/>
          <p:nvPr/>
        </p:nvSpPr>
        <p:spPr>
          <a:xfrm>
            <a:off x="777240" y="3072384"/>
            <a:ext cx="2148840" cy="457200"/>
          </a:xfrm>
          <a:prstGeom prst="rect">
            <a:avLst/>
          </a:prstGeom>
          <a:noFill/>
        </p:spPr>
        <p:txBody>
          <a:bodyPr wrap="square" anchor="t" lIns="0" rIns="0" tIns="0" bIns="0">
            <a:spAutoFit/>
          </a:bodyPr>
          <a:lstStyle/>
          <a:p>
            <a:pPr algn="l">
              <a:lnSpc>
                <a:spcPct val="100000"/>
              </a:lnSpc>
            </a:pPr>
            <a:r>
              <a:rPr sz="1450" b="1" i="0">
                <a:solidFill>
                  <a:srgbClr val="2B44E7"/>
                </a:solidFill>
                <a:latin typeface="Arial"/>
              </a:rPr>
              <a:t>Frontend</a:t>
            </a:r>
          </a:p>
        </p:txBody>
      </p:sp>
      <p:sp>
        <p:nvSpPr>
          <p:cNvPr id="22" name="TextBox 21"/>
          <p:cNvSpPr txBox="1"/>
          <p:nvPr/>
        </p:nvSpPr>
        <p:spPr>
          <a:xfrm>
            <a:off x="3063240" y="3072384"/>
            <a:ext cx="8321040" cy="731520"/>
          </a:xfrm>
          <a:prstGeom prst="rect">
            <a:avLst/>
          </a:prstGeom>
          <a:noFill/>
        </p:spPr>
        <p:txBody>
          <a:bodyPr wrap="square" anchor="t" lIns="0" rIns="0" tIns="0" bIns="0">
            <a:spAutoFit/>
          </a:bodyPr>
          <a:lstStyle/>
          <a:p>
            <a:pPr algn="l">
              <a:lnSpc>
                <a:spcPct val="108000"/>
              </a:lnSpc>
            </a:pPr>
            <a:r>
              <a:rPr sz="1350" b="0" i="0">
                <a:solidFill>
                  <a:srgbClr val="757474"/>
                </a:solidFill>
                <a:latin typeface="Arial"/>
              </a:rPr>
              <a:t>Next.js 15, React 19, TypeScript, and Tailwind, with framer-motion driving the live tickers and motion.</a:t>
            </a:r>
          </a:p>
        </p:txBody>
      </p:sp>
      <p:sp>
        <p:nvSpPr>
          <p:cNvPr id="23" name="TextBox 22"/>
          <p:cNvSpPr txBox="1"/>
          <p:nvPr/>
        </p:nvSpPr>
        <p:spPr>
          <a:xfrm>
            <a:off x="777240" y="3858768"/>
            <a:ext cx="2148840" cy="457200"/>
          </a:xfrm>
          <a:prstGeom prst="rect">
            <a:avLst/>
          </a:prstGeom>
          <a:noFill/>
        </p:spPr>
        <p:txBody>
          <a:bodyPr wrap="square" anchor="t" lIns="0" rIns="0" tIns="0" bIns="0">
            <a:spAutoFit/>
          </a:bodyPr>
          <a:lstStyle/>
          <a:p>
            <a:pPr algn="l">
              <a:lnSpc>
                <a:spcPct val="100000"/>
              </a:lnSpc>
            </a:pPr>
            <a:r>
              <a:rPr sz="1450" b="1" i="0">
                <a:solidFill>
                  <a:srgbClr val="2B44E7"/>
                </a:solidFill>
                <a:latin typeface="Arial"/>
              </a:rPr>
              <a:t>Wallet</a:t>
            </a:r>
          </a:p>
        </p:txBody>
      </p:sp>
      <p:sp>
        <p:nvSpPr>
          <p:cNvPr id="24" name="TextBox 23"/>
          <p:cNvSpPr txBox="1"/>
          <p:nvPr/>
        </p:nvSpPr>
        <p:spPr>
          <a:xfrm>
            <a:off x="3063240" y="3858768"/>
            <a:ext cx="8321040" cy="731520"/>
          </a:xfrm>
          <a:prstGeom prst="rect">
            <a:avLst/>
          </a:prstGeom>
          <a:noFill/>
        </p:spPr>
        <p:txBody>
          <a:bodyPr wrap="square" anchor="t" lIns="0" rIns="0" tIns="0" bIns="0">
            <a:spAutoFit/>
          </a:bodyPr>
          <a:lstStyle/>
          <a:p>
            <a:pPr algn="l">
              <a:lnSpc>
                <a:spcPct val="108000"/>
              </a:lnSpc>
            </a:pPr>
            <a:r>
              <a:rPr sz="1350" b="0" i="0">
                <a:solidFill>
                  <a:srgbClr val="757474"/>
                </a:solidFill>
                <a:latin typeface="Arial"/>
              </a:rPr>
              <a:t>Privy sign-in with embedded or external wallets, wired through wagmi and viem.</a:t>
            </a:r>
          </a:p>
        </p:txBody>
      </p:sp>
      <p:sp>
        <p:nvSpPr>
          <p:cNvPr id="25" name="TextBox 24"/>
          <p:cNvSpPr txBox="1"/>
          <p:nvPr/>
        </p:nvSpPr>
        <p:spPr>
          <a:xfrm>
            <a:off x="777240" y="4645152"/>
            <a:ext cx="2148840" cy="457200"/>
          </a:xfrm>
          <a:prstGeom prst="rect">
            <a:avLst/>
          </a:prstGeom>
          <a:noFill/>
        </p:spPr>
        <p:txBody>
          <a:bodyPr wrap="square" anchor="t" lIns="0" rIns="0" tIns="0" bIns="0">
            <a:spAutoFit/>
          </a:bodyPr>
          <a:lstStyle/>
          <a:p>
            <a:pPr algn="l">
              <a:lnSpc>
                <a:spcPct val="100000"/>
              </a:lnSpc>
            </a:pPr>
            <a:r>
              <a:rPr sz="1450" b="1" i="0">
                <a:solidFill>
                  <a:srgbClr val="2B44E7"/>
                </a:solidFill>
                <a:latin typeface="Arial"/>
              </a:rPr>
              <a:t>Data</a:t>
            </a:r>
          </a:p>
        </p:txBody>
      </p:sp>
      <p:sp>
        <p:nvSpPr>
          <p:cNvPr id="26" name="TextBox 25"/>
          <p:cNvSpPr txBox="1"/>
          <p:nvPr/>
        </p:nvSpPr>
        <p:spPr>
          <a:xfrm>
            <a:off x="3063240" y="4645152"/>
            <a:ext cx="8321040" cy="731520"/>
          </a:xfrm>
          <a:prstGeom prst="rect">
            <a:avLst/>
          </a:prstGeom>
          <a:noFill/>
        </p:spPr>
        <p:txBody>
          <a:bodyPr wrap="square" anchor="t" lIns="0" rIns="0" tIns="0" bIns="0">
            <a:spAutoFit/>
          </a:bodyPr>
          <a:lstStyle/>
          <a:p>
            <a:pPr algn="l">
              <a:lnSpc>
                <a:spcPct val="108000"/>
              </a:lnSpc>
            </a:pPr>
            <a:r>
              <a:rPr sz="1350" b="0" i="0">
                <a:solidFill>
                  <a:srgbClr val="757474"/>
                </a:solidFill>
                <a:latin typeface="Arial"/>
              </a:rPr>
              <a:t>Neon Postgres via Drizzle for off-chain conveniences only, such as handles and saved payees. Nothing that moves money lives off-chain.</a:t>
            </a:r>
          </a:p>
        </p:txBody>
      </p:sp>
      <p:sp>
        <p:nvSpPr>
          <p:cNvPr id="27" name="TextBox 26"/>
          <p:cNvSpPr txBox="1"/>
          <p:nvPr/>
        </p:nvSpPr>
        <p:spPr>
          <a:xfrm>
            <a:off x="777240" y="5431536"/>
            <a:ext cx="2148840" cy="457200"/>
          </a:xfrm>
          <a:prstGeom prst="rect">
            <a:avLst/>
          </a:prstGeom>
          <a:noFill/>
        </p:spPr>
        <p:txBody>
          <a:bodyPr wrap="square" anchor="t" lIns="0" rIns="0" tIns="0" bIns="0">
            <a:spAutoFit/>
          </a:bodyPr>
          <a:lstStyle/>
          <a:p>
            <a:pPr algn="l">
              <a:lnSpc>
                <a:spcPct val="100000"/>
              </a:lnSpc>
            </a:pPr>
            <a:r>
              <a:rPr sz="1450" b="1" i="0">
                <a:solidFill>
                  <a:srgbClr val="2B44E7"/>
                </a:solidFill>
                <a:latin typeface="Arial"/>
              </a:rPr>
              <a:t>Reliability</a:t>
            </a:r>
          </a:p>
        </p:txBody>
      </p:sp>
      <p:sp>
        <p:nvSpPr>
          <p:cNvPr id="28" name="TextBox 27"/>
          <p:cNvSpPr txBox="1"/>
          <p:nvPr/>
        </p:nvSpPr>
        <p:spPr>
          <a:xfrm>
            <a:off x="3063240" y="5431536"/>
            <a:ext cx="8321040" cy="731520"/>
          </a:xfrm>
          <a:prstGeom prst="rect">
            <a:avLst/>
          </a:prstGeom>
          <a:noFill/>
        </p:spPr>
        <p:txBody>
          <a:bodyPr wrap="square" anchor="t" lIns="0" rIns="0" tIns="0" bIns="0">
            <a:spAutoFit/>
          </a:bodyPr>
          <a:lstStyle/>
          <a:p>
            <a:pPr algn="l">
              <a:lnSpc>
                <a:spcPct val="108000"/>
              </a:lnSpc>
            </a:pPr>
            <a:r>
              <a:rPr sz="1350" b="0" i="0">
                <a:solidFill>
                  <a:srgbClr val="757474"/>
                </a:solidFill>
                <a:latin typeface="Arial"/>
              </a:rPr>
              <a:t>A same-origin RPC proxy and Multicall3 aggregation keep reads fast and hard to block.</a:t>
            </a:r>
          </a:p>
        </p:txBody>
      </p:sp>
      <p:sp>
        <p:nvSpPr>
          <p:cNvPr id="29" name="Rectangle 28"/>
          <p:cNvSpPr/>
          <p:nvPr/>
        </p:nvSpPr>
        <p:spPr>
          <a:xfrm>
            <a:off x="777240" y="6382512"/>
            <a:ext cx="10634472" cy="12700"/>
          </a:xfrm>
          <a:prstGeom prst="rect">
            <a:avLst/>
          </a:prstGeom>
          <a:solidFill>
            <a:srgbClr val="E1E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77240" y="6455664"/>
            <a:ext cx="3657600" cy="274320"/>
          </a:xfrm>
          <a:prstGeom prst="rect">
            <a:avLst/>
          </a:prstGeom>
          <a:noFill/>
        </p:spPr>
        <p:txBody>
          <a:bodyPr wrap="square" anchor="t" lIns="0" rIns="0" tIns="0" bIns="0">
            <a:spAutoFit/>
          </a:bodyPr>
          <a:lstStyle/>
          <a:p>
            <a:pPr algn="l">
              <a:lnSpc>
                <a:spcPct val="100000"/>
              </a:lnSpc>
            </a:pPr>
            <a:r>
              <a:rPr sz="950" b="1" i="0">
                <a:solidFill>
                  <a:srgbClr val="908F8E"/>
                </a:solidFill>
                <a:latin typeface="Arial"/>
              </a:rPr>
              <a:t>Cadence</a:t>
            </a:r>
          </a:p>
        </p:txBody>
      </p:sp>
      <p:sp>
        <p:nvSpPr>
          <p:cNvPr id="31" name="TextBox 30"/>
          <p:cNvSpPr txBox="1"/>
          <p:nvPr/>
        </p:nvSpPr>
        <p:spPr>
          <a:xfrm>
            <a:off x="7754112" y="6455664"/>
            <a:ext cx="3657600" cy="274320"/>
          </a:xfrm>
          <a:prstGeom prst="rect">
            <a:avLst/>
          </a:prstGeom>
          <a:noFill/>
        </p:spPr>
        <p:txBody>
          <a:bodyPr wrap="square" anchor="t" lIns="0" rIns="0" tIns="0" bIns="0">
            <a:spAutoFit/>
          </a:bodyPr>
          <a:lstStyle/>
          <a:p>
            <a:pPr algn="r">
              <a:lnSpc>
                <a:spcPct val="100000"/>
              </a:lnSpc>
            </a:pPr>
            <a:r>
              <a:rPr sz="950" b="0" i="0">
                <a:solidFill>
                  <a:srgbClr val="908F8E"/>
                </a:solidFill>
                <a:latin typeface="Consolas"/>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rot="21120000">
            <a:off x="-1463040" y="-60346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rot="21120000">
            <a:off x="-1463040" y="30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rot="21120000">
            <a:off x="-1463040" y="60354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rot="21120000">
            <a:off x="-1463040" y="120731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Freeform 6"/>
          <p:cNvSpPr/>
          <p:nvPr/>
        </p:nvSpPr>
        <p:spPr>
          <a:xfrm rot="21120000">
            <a:off x="-1463040" y="1810555"/>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rot="21120000">
            <a:off x="-1463040" y="2414320"/>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rot="21120000">
            <a:off x="-1463040" y="3017563"/>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rot="21120000">
            <a:off x="-1463040" y="3621328"/>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rot="21120000">
            <a:off x="-1463040" y="4224571"/>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rot="21120000">
            <a:off x="-1463040" y="4828336"/>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Freeform 12"/>
          <p:cNvSpPr/>
          <p:nvPr/>
        </p:nvSpPr>
        <p:spPr>
          <a:xfrm rot="21120000">
            <a:off x="-1463040" y="5431579"/>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Freeform 13"/>
          <p:cNvSpPr/>
          <p:nvPr/>
        </p:nvSpPr>
        <p:spPr>
          <a:xfrm rot="21120000">
            <a:off x="-1463040" y="6035344"/>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Freeform 14"/>
          <p:cNvSpPr/>
          <p:nvPr/>
        </p:nvSpPr>
        <p:spPr>
          <a:xfrm rot="21120000">
            <a:off x="-1463040" y="6638587"/>
            <a:ext cx="15179040" cy="292446"/>
          </a:xfrm>
          <a:custGeom>
            <a:avLst/>
            <a:gdLst/>
            <a:ahLst/>
            <a:cxnLst/>
            <a:rect l="l" t="t" r="r" b="b"/>
            <a:pathLst>
              <a:path w="15179040" h="292446">
                <a:moveTo>
                  <a:pt x="0" y="146261"/>
                </a:moveTo>
                <a:lnTo>
                  <a:pt x="252984" y="236953"/>
                </a:lnTo>
                <a:lnTo>
                  <a:pt x="505968" y="288591"/>
                </a:lnTo>
                <a:lnTo>
                  <a:pt x="758952" y="278940"/>
                </a:lnTo>
                <a:lnTo>
                  <a:pt x="1011936" y="212156"/>
                </a:lnTo>
                <a:lnTo>
                  <a:pt x="1264920" y="116996"/>
                </a:lnTo>
                <a:lnTo>
                  <a:pt x="1517904" y="34439"/>
                </a:lnTo>
                <a:lnTo>
                  <a:pt x="1770888" y="33"/>
                </a:lnTo>
                <a:lnTo>
                  <a:pt x="2023872" y="28595"/>
                </a:lnTo>
                <a:lnTo>
                  <a:pt x="2276856" y="107826"/>
                </a:lnTo>
                <a:lnTo>
                  <a:pt x="2529840" y="203607"/>
                </a:lnTo>
                <a:lnTo>
                  <a:pt x="2782824" y="274695"/>
                </a:lnTo>
                <a:lnTo>
                  <a:pt x="3035808" y="290477"/>
                </a:lnTo>
                <a:lnTo>
                  <a:pt x="3288792" y="244157"/>
                </a:lnTo>
                <a:lnTo>
                  <a:pt x="3541776" y="155683"/>
                </a:lnTo>
                <a:lnTo>
                  <a:pt x="3794760" y="63151"/>
                </a:lnTo>
                <a:lnTo>
                  <a:pt x="4047744" y="6407"/>
                </a:lnTo>
                <a:lnTo>
                  <a:pt x="4300728" y="9887"/>
                </a:lnTo>
                <a:lnTo>
                  <a:pt x="4553712" y="72091"/>
                </a:lnTo>
                <a:lnTo>
                  <a:pt x="4806696" y="166233"/>
                </a:lnTo>
                <a:lnTo>
                  <a:pt x="5059680" y="251776"/>
                </a:lnTo>
                <a:lnTo>
                  <a:pt x="5312664" y="291882"/>
                </a:lnTo>
                <a:lnTo>
                  <a:pt x="5565648" y="269282"/>
                </a:lnTo>
                <a:lnTo>
                  <a:pt x="5818632" y="193707"/>
                </a:lnTo>
                <a:lnTo>
                  <a:pt x="6071616" y="97702"/>
                </a:lnTo>
                <a:lnTo>
                  <a:pt x="6324600" y="22606"/>
                </a:lnTo>
                <a:lnTo>
                  <a:pt x="6577584" y="758"/>
                </a:lnTo>
                <a:lnTo>
                  <a:pt x="6830568" y="41566"/>
                </a:lnTo>
                <a:lnTo>
                  <a:pt x="7083552" y="127457"/>
                </a:lnTo>
                <a:lnTo>
                  <a:pt x="7336536" y="221445"/>
                </a:lnTo>
                <a:lnTo>
                  <a:pt x="7589520" y="283058"/>
                </a:lnTo>
                <a:lnTo>
                  <a:pt x="7842504" y="285764"/>
                </a:lnTo>
                <a:lnTo>
                  <a:pt x="8095488" y="228399"/>
                </a:lnTo>
                <a:lnTo>
                  <a:pt x="8348472" y="135663"/>
                </a:lnTo>
                <a:lnTo>
                  <a:pt x="8601456" y="47492"/>
                </a:lnTo>
                <a:lnTo>
                  <a:pt x="8854440" y="1852"/>
                </a:lnTo>
                <a:lnTo>
                  <a:pt x="9107424" y="18396"/>
                </a:lnTo>
                <a:lnTo>
                  <a:pt x="9360408" y="90001"/>
                </a:lnTo>
                <a:lnTo>
                  <a:pt x="9613392" y="185832"/>
                </a:lnTo>
                <a:lnTo>
                  <a:pt x="9866376" y="264623"/>
                </a:lnTo>
                <a:lnTo>
                  <a:pt x="10119360" y="292446"/>
                </a:lnTo>
                <a:lnTo>
                  <a:pt x="10372344" y="257320"/>
                </a:lnTo>
                <a:lnTo>
                  <a:pt x="10625328" y="174370"/>
                </a:lnTo>
                <a:lnTo>
                  <a:pt x="10878312" y="79316"/>
                </a:lnTo>
                <a:lnTo>
                  <a:pt x="11131296" y="13089"/>
                </a:lnTo>
                <a:lnTo>
                  <a:pt x="11384280" y="4208"/>
                </a:lnTo>
                <a:lnTo>
                  <a:pt x="11637264" y="56497"/>
                </a:lnTo>
                <a:lnTo>
                  <a:pt x="11890248" y="147440"/>
                </a:lnTo>
                <a:lnTo>
                  <a:pt x="12143232" y="237874"/>
                </a:lnTo>
                <a:lnTo>
                  <a:pt x="12396216" y="288859"/>
                </a:lnTo>
                <a:lnTo>
                  <a:pt x="12649200" y="278439"/>
                </a:lnTo>
                <a:lnTo>
                  <a:pt x="12902184" y="211102"/>
                </a:lnTo>
                <a:lnTo>
                  <a:pt x="13155168" y="115843"/>
                </a:lnTo>
                <a:lnTo>
                  <a:pt x="13408152" y="33682"/>
                </a:lnTo>
                <a:lnTo>
                  <a:pt x="13661136" y="0"/>
                </a:lnTo>
                <a:lnTo>
                  <a:pt x="13914120" y="29299"/>
                </a:lnTo>
                <a:lnTo>
                  <a:pt x="14167104" y="108964"/>
                </a:lnTo>
                <a:lnTo>
                  <a:pt x="14420088" y="204690"/>
                </a:lnTo>
                <a:lnTo>
                  <a:pt x="14673072" y="275255"/>
                </a:lnTo>
                <a:lnTo>
                  <a:pt x="14926056" y="290274"/>
                </a:lnTo>
                <a:lnTo>
                  <a:pt x="15179040" y="243278"/>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Freeform 15"/>
          <p:cNvSpPr/>
          <p:nvPr/>
        </p:nvSpPr>
        <p:spPr>
          <a:xfrm rot="21120000">
            <a:off x="-1463040" y="7242352"/>
            <a:ext cx="15179040" cy="292304"/>
          </a:xfrm>
          <a:custGeom>
            <a:avLst/>
            <a:gdLst/>
            <a:ahLst/>
            <a:cxnLst/>
            <a:rect l="l" t="t" r="r" b="b"/>
            <a:pathLst>
              <a:path w="15179040" h="292304">
                <a:moveTo>
                  <a:pt x="0" y="292304"/>
                </a:moveTo>
                <a:lnTo>
                  <a:pt x="252984" y="260804"/>
                </a:lnTo>
                <a:lnTo>
                  <a:pt x="505968" y="179867"/>
                </a:lnTo>
                <a:lnTo>
                  <a:pt x="758952" y="84347"/>
                </a:lnTo>
                <a:lnTo>
                  <a:pt x="1011936" y="15376"/>
                </a:lnTo>
                <a:lnTo>
                  <a:pt x="1264920" y="2653"/>
                </a:lnTo>
                <a:lnTo>
                  <a:pt x="1517904" y="51657"/>
                </a:lnTo>
                <a:lnTo>
                  <a:pt x="1770888" y="141287"/>
                </a:lnTo>
                <a:lnTo>
                  <a:pt x="2023872" y="232946"/>
                </a:lnTo>
                <a:lnTo>
                  <a:pt x="2276856" y="287165"/>
                </a:lnTo>
                <a:lnTo>
                  <a:pt x="2529840" y="280597"/>
                </a:lnTo>
                <a:lnTo>
                  <a:pt x="2782824" y="216069"/>
                </a:lnTo>
                <a:lnTo>
                  <a:pt x="3035808" y="121369"/>
                </a:lnTo>
                <a:lnTo>
                  <a:pt x="3288792" y="37275"/>
                </a:lnTo>
                <a:lnTo>
                  <a:pt x="3541776" y="0"/>
                </a:lnTo>
                <a:lnTo>
                  <a:pt x="3794760" y="25594"/>
                </a:lnTo>
                <a:lnTo>
                  <a:pt x="4047744" y="103037"/>
                </a:lnTo>
                <a:lnTo>
                  <a:pt x="4300728" y="198980"/>
                </a:lnTo>
                <a:lnTo>
                  <a:pt x="4553712" y="272110"/>
                </a:lnTo>
                <a:lnTo>
                  <a:pt x="4806696" y="290934"/>
                </a:lnTo>
                <a:lnTo>
                  <a:pt x="5059680" y="247348"/>
                </a:lnTo>
                <a:lnTo>
                  <a:pt x="5312664" y="160120"/>
                </a:lnTo>
                <a:lnTo>
                  <a:pt x="5565648" y="66812"/>
                </a:lnTo>
                <a:lnTo>
                  <a:pt x="5818632" y="7603"/>
                </a:lnTo>
                <a:lnTo>
                  <a:pt x="6071616" y="7990"/>
                </a:lnTo>
                <a:lnTo>
                  <a:pt x="6324600" y="67806"/>
                </a:lnTo>
                <a:lnTo>
                  <a:pt x="6577584" y="161293"/>
                </a:lnTo>
                <a:lnTo>
                  <a:pt x="6830568" y="248195"/>
                </a:lnTo>
                <a:lnTo>
                  <a:pt x="7083552" y="291091"/>
                </a:lnTo>
                <a:lnTo>
                  <a:pt x="7336536" y="271508"/>
                </a:lnTo>
                <a:lnTo>
                  <a:pt x="7589520" y="197880"/>
                </a:lnTo>
                <a:lnTo>
                  <a:pt x="7842504" y="101912"/>
                </a:lnTo>
                <a:lnTo>
                  <a:pt x="8095488" y="24929"/>
                </a:lnTo>
                <a:lnTo>
                  <a:pt x="8348472" y="80"/>
                </a:lnTo>
                <a:lnTo>
                  <a:pt x="8601456" y="38067"/>
                </a:lnTo>
                <a:lnTo>
                  <a:pt x="8854440" y="122531"/>
                </a:lnTo>
                <a:lnTo>
                  <a:pt x="9107424" y="217101"/>
                </a:lnTo>
                <a:lnTo>
                  <a:pt x="9360408" y="281054"/>
                </a:lnTo>
                <a:lnTo>
                  <a:pt x="9613392" y="286851"/>
                </a:lnTo>
                <a:lnTo>
                  <a:pt x="9866376" y="231995"/>
                </a:lnTo>
                <a:lnTo>
                  <a:pt x="10119360" y="140109"/>
                </a:lnTo>
                <a:lnTo>
                  <a:pt x="10372344" y="50759"/>
                </a:lnTo>
                <a:lnTo>
                  <a:pt x="10625328" y="2422"/>
                </a:lnTo>
                <a:lnTo>
                  <a:pt x="10878312" y="15911"/>
                </a:lnTo>
                <a:lnTo>
                  <a:pt x="11131296" y="85418"/>
                </a:lnTo>
                <a:lnTo>
                  <a:pt x="11384280" y="181013"/>
                </a:lnTo>
                <a:lnTo>
                  <a:pt x="11637264" y="261531"/>
                </a:lnTo>
                <a:lnTo>
                  <a:pt x="11890248" y="292299"/>
                </a:lnTo>
                <a:lnTo>
                  <a:pt x="12143232" y="260069"/>
                </a:lnTo>
                <a:lnTo>
                  <a:pt x="12396216" y="178720"/>
                </a:lnTo>
                <a:lnTo>
                  <a:pt x="12649200" y="83281"/>
                </a:lnTo>
                <a:lnTo>
                  <a:pt x="12902184" y="14849"/>
                </a:lnTo>
                <a:lnTo>
                  <a:pt x="13155168" y="2893"/>
                </a:lnTo>
                <a:lnTo>
                  <a:pt x="13408152" y="52561"/>
                </a:lnTo>
                <a:lnTo>
                  <a:pt x="13661136" y="142465"/>
                </a:lnTo>
                <a:lnTo>
                  <a:pt x="13914120" y="233891"/>
                </a:lnTo>
                <a:lnTo>
                  <a:pt x="14167104" y="287470"/>
                </a:lnTo>
                <a:lnTo>
                  <a:pt x="14420088" y="280130"/>
                </a:lnTo>
                <a:lnTo>
                  <a:pt x="14673072" y="215032"/>
                </a:lnTo>
                <a:lnTo>
                  <a:pt x="14926056" y="120208"/>
                </a:lnTo>
                <a:lnTo>
                  <a:pt x="15179040" y="36490"/>
                </a:lnTo>
              </a:path>
            </a:pathLst>
          </a:custGeom>
          <a:noFill/>
          <a:ln w="12700" cap="rnd">
            <a:solidFill>
              <a:srgbClr val="EBEB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reeform 16"/>
          <p:cNvSpPr/>
          <p:nvPr/>
        </p:nvSpPr>
        <p:spPr>
          <a:xfrm>
            <a:off x="42565320" y="89748362"/>
            <a:ext cx="130302000" cy="48005998"/>
          </a:xfrm>
          <a:custGeom>
            <a:avLst/>
            <a:gdLst/>
            <a:ahLst/>
            <a:cxnLst/>
            <a:rect l="l" t="t" r="r" b="b"/>
            <a:pathLst>
              <a:path w="130302000" h="48005998">
                <a:moveTo>
                  <a:pt x="0" y="48005998"/>
                </a:moveTo>
                <a:lnTo>
                  <a:pt x="2714625" y="47544666"/>
                </a:lnTo>
                <a:lnTo>
                  <a:pt x="5429250" y="46178404"/>
                </a:lnTo>
                <a:lnTo>
                  <a:pt x="8143875" y="43959729"/>
                </a:lnTo>
                <a:lnTo>
                  <a:pt x="10858500" y="40973928"/>
                </a:lnTo>
                <a:lnTo>
                  <a:pt x="13573125" y="37335772"/>
                </a:lnTo>
                <a:lnTo>
                  <a:pt x="16287750" y="33185110"/>
                </a:lnTo>
                <a:lnTo>
                  <a:pt x="19002375" y="28681493"/>
                </a:lnTo>
                <a:lnTo>
                  <a:pt x="21717000" y="23998036"/>
                </a:lnTo>
                <a:lnTo>
                  <a:pt x="24431625" y="19314770"/>
                </a:lnTo>
                <a:lnTo>
                  <a:pt x="27146250" y="14811718"/>
                </a:lnTo>
                <a:lnTo>
                  <a:pt x="29860875" y="10661974"/>
                </a:lnTo>
                <a:lnTo>
                  <a:pt x="32575500" y="7025052"/>
                </a:lnTo>
                <a:lnTo>
                  <a:pt x="35290125" y="4040755"/>
                </a:lnTo>
                <a:lnTo>
                  <a:pt x="38004750" y="1823796"/>
                </a:lnTo>
                <a:lnTo>
                  <a:pt x="40719375" y="459396"/>
                </a:lnTo>
                <a:lnTo>
                  <a:pt x="43434000" y="0"/>
                </a:lnTo>
                <a:lnTo>
                  <a:pt x="46148625" y="463268"/>
                </a:lnTo>
                <a:lnTo>
                  <a:pt x="48863250" y="1831392"/>
                </a:lnTo>
                <a:lnTo>
                  <a:pt x="51577875" y="4051782"/>
                </a:lnTo>
                <a:lnTo>
                  <a:pt x="54292500" y="7039087"/>
                </a:lnTo>
                <a:lnTo>
                  <a:pt x="57007125" y="10678477"/>
                </a:lnTo>
                <a:lnTo>
                  <a:pt x="59721750" y="14830055"/>
                </a:lnTo>
                <a:lnTo>
                  <a:pt x="62436375" y="19334237"/>
                </a:lnTo>
                <a:lnTo>
                  <a:pt x="65151000" y="24017883"/>
                </a:lnTo>
                <a:lnTo>
                  <a:pt x="67865625" y="28700957"/>
                </a:lnTo>
                <a:lnTo>
                  <a:pt x="70580250" y="33203444"/>
                </a:lnTo>
                <a:lnTo>
                  <a:pt x="73294875" y="37352271"/>
                </a:lnTo>
                <a:lnTo>
                  <a:pt x="76009500" y="40987957"/>
                </a:lnTo>
                <a:lnTo>
                  <a:pt x="78724125" y="43970750"/>
                </a:lnTo>
                <a:lnTo>
                  <a:pt x="81438750" y="46185992"/>
                </a:lnTo>
                <a:lnTo>
                  <a:pt x="84153375" y="47548530"/>
                </a:lnTo>
                <a:lnTo>
                  <a:pt x="86868000" y="48005990"/>
                </a:lnTo>
                <a:lnTo>
                  <a:pt x="89582625" y="47540786"/>
                </a:lnTo>
                <a:lnTo>
                  <a:pt x="92297250" y="46170800"/>
                </a:lnTo>
                <a:lnTo>
                  <a:pt x="95011875" y="43948695"/>
                </a:lnTo>
                <a:lnTo>
                  <a:pt x="97726500" y="40959887"/>
                </a:lnTo>
                <a:lnTo>
                  <a:pt x="100441125" y="37319264"/>
                </a:lnTo>
                <a:lnTo>
                  <a:pt x="103155750" y="33166770"/>
                </a:lnTo>
                <a:lnTo>
                  <a:pt x="105870375" y="28662025"/>
                </a:lnTo>
                <a:lnTo>
                  <a:pt x="108585000" y="23978190"/>
                </a:lnTo>
                <a:lnTo>
                  <a:pt x="111299625" y="19295308"/>
                </a:lnTo>
                <a:lnTo>
                  <a:pt x="114014250" y="14793387"/>
                </a:lnTo>
                <a:lnTo>
                  <a:pt x="116728875" y="10645479"/>
                </a:lnTo>
                <a:lnTo>
                  <a:pt x="119443500" y="7011028"/>
                </a:lnTo>
                <a:lnTo>
                  <a:pt x="122158125" y="4029741"/>
                </a:lnTo>
                <a:lnTo>
                  <a:pt x="124872750" y="1816215"/>
                </a:lnTo>
                <a:lnTo>
                  <a:pt x="127587375" y="455539"/>
                </a:lnTo>
                <a:lnTo>
                  <a:pt x="130302000" y="16"/>
                </a:lnTo>
              </a:path>
            </a:pathLst>
          </a:custGeom>
          <a:noFill/>
          <a:ln w="2743200" cap="rnd">
            <a:solidFill>
              <a:srgbClr val="EDEDF1"/>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58384" y="1600200"/>
            <a:ext cx="1463040" cy="1463040"/>
          </a:xfrm>
          <a:prstGeom prst="roundRect">
            <a:avLst>
              <a:gd name="adj" fmla="val 25000"/>
            </a:avLst>
          </a:prstGeom>
          <a:solidFill>
            <a:srgbClr val="1716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5655564" y="2171700"/>
            <a:ext cx="868680" cy="320040"/>
          </a:xfrm>
          <a:custGeom>
            <a:avLst/>
            <a:gdLst/>
            <a:ahLst/>
            <a:cxnLst/>
            <a:rect l="l" t="t" r="r" b="b"/>
            <a:pathLst>
              <a:path w="868680" h="320040">
                <a:moveTo>
                  <a:pt x="0" y="320040"/>
                </a:moveTo>
                <a:lnTo>
                  <a:pt x="18098" y="316964"/>
                </a:lnTo>
                <a:lnTo>
                  <a:pt x="36195" y="307856"/>
                </a:lnTo>
                <a:lnTo>
                  <a:pt x="54292" y="293065"/>
                </a:lnTo>
                <a:lnTo>
                  <a:pt x="72390" y="273160"/>
                </a:lnTo>
                <a:lnTo>
                  <a:pt x="90488" y="248905"/>
                </a:lnTo>
                <a:lnTo>
                  <a:pt x="108585" y="221234"/>
                </a:lnTo>
                <a:lnTo>
                  <a:pt x="126682" y="191210"/>
                </a:lnTo>
                <a:lnTo>
                  <a:pt x="144780" y="159987"/>
                </a:lnTo>
                <a:lnTo>
                  <a:pt x="162878" y="128765"/>
                </a:lnTo>
                <a:lnTo>
                  <a:pt x="180975" y="98745"/>
                </a:lnTo>
                <a:lnTo>
                  <a:pt x="199072" y="71080"/>
                </a:lnTo>
                <a:lnTo>
                  <a:pt x="217170" y="46834"/>
                </a:lnTo>
                <a:lnTo>
                  <a:pt x="235268" y="26938"/>
                </a:lnTo>
                <a:lnTo>
                  <a:pt x="253365" y="12159"/>
                </a:lnTo>
                <a:lnTo>
                  <a:pt x="271462" y="3063"/>
                </a:lnTo>
                <a:lnTo>
                  <a:pt x="289560" y="0"/>
                </a:lnTo>
                <a:lnTo>
                  <a:pt x="307658" y="3088"/>
                </a:lnTo>
                <a:lnTo>
                  <a:pt x="325755" y="12209"/>
                </a:lnTo>
                <a:lnTo>
                  <a:pt x="343852" y="27012"/>
                </a:lnTo>
                <a:lnTo>
                  <a:pt x="361950" y="46927"/>
                </a:lnTo>
                <a:lnTo>
                  <a:pt x="380048" y="71190"/>
                </a:lnTo>
                <a:lnTo>
                  <a:pt x="398145" y="98867"/>
                </a:lnTo>
                <a:lnTo>
                  <a:pt x="416242" y="128895"/>
                </a:lnTo>
                <a:lnTo>
                  <a:pt x="434340" y="160119"/>
                </a:lnTo>
                <a:lnTo>
                  <a:pt x="452438" y="191339"/>
                </a:lnTo>
                <a:lnTo>
                  <a:pt x="470535" y="221356"/>
                </a:lnTo>
                <a:lnTo>
                  <a:pt x="488632" y="249015"/>
                </a:lnTo>
                <a:lnTo>
                  <a:pt x="506730" y="273253"/>
                </a:lnTo>
                <a:lnTo>
                  <a:pt x="524828" y="293138"/>
                </a:lnTo>
                <a:lnTo>
                  <a:pt x="542925" y="307907"/>
                </a:lnTo>
                <a:lnTo>
                  <a:pt x="561022" y="316990"/>
                </a:lnTo>
                <a:lnTo>
                  <a:pt x="579120" y="320040"/>
                </a:lnTo>
                <a:lnTo>
                  <a:pt x="597218" y="316939"/>
                </a:lnTo>
                <a:lnTo>
                  <a:pt x="615315" y="307805"/>
                </a:lnTo>
                <a:lnTo>
                  <a:pt x="633412" y="292992"/>
                </a:lnTo>
                <a:lnTo>
                  <a:pt x="651510" y="273066"/>
                </a:lnTo>
                <a:lnTo>
                  <a:pt x="669608" y="248795"/>
                </a:lnTo>
                <a:lnTo>
                  <a:pt x="687705" y="221112"/>
                </a:lnTo>
                <a:lnTo>
                  <a:pt x="705802" y="191081"/>
                </a:lnTo>
                <a:lnTo>
                  <a:pt x="723900" y="159855"/>
                </a:lnTo>
                <a:lnTo>
                  <a:pt x="741998" y="128636"/>
                </a:lnTo>
                <a:lnTo>
                  <a:pt x="760095" y="98623"/>
                </a:lnTo>
                <a:lnTo>
                  <a:pt x="778192" y="70970"/>
                </a:lnTo>
                <a:lnTo>
                  <a:pt x="796290" y="46741"/>
                </a:lnTo>
                <a:lnTo>
                  <a:pt x="814388" y="26865"/>
                </a:lnTo>
                <a:lnTo>
                  <a:pt x="832485" y="12108"/>
                </a:lnTo>
                <a:lnTo>
                  <a:pt x="850582" y="3037"/>
                </a:lnTo>
                <a:lnTo>
                  <a:pt x="868680" y="0"/>
                </a:lnTo>
              </a:path>
            </a:pathLst>
          </a:custGeom>
          <a:noFill/>
          <a:ln w="140208" cap="rnd">
            <a:solidFill>
              <a:srgbClr val="2B44E7"/>
            </a:solidFill>
            <a:round/>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246120"/>
            <a:ext cx="10634472" cy="822960"/>
          </a:xfrm>
          <a:prstGeom prst="rect">
            <a:avLst/>
          </a:prstGeom>
          <a:noFill/>
        </p:spPr>
        <p:txBody>
          <a:bodyPr wrap="square" anchor="t" lIns="0" rIns="0" tIns="0" bIns="0">
            <a:spAutoFit/>
          </a:bodyPr>
          <a:lstStyle/>
          <a:p>
            <a:pPr algn="ctr">
              <a:lnSpc>
                <a:spcPct val="100000"/>
              </a:lnSpc>
            </a:pPr>
            <a:r>
              <a:rPr sz="3400" b="0" i="1">
                <a:solidFill>
                  <a:srgbClr val="171618"/>
                </a:solidFill>
                <a:latin typeface="Georgia"/>
              </a:rPr>
              <a:t>Money that moves the way time does.</a:t>
            </a:r>
          </a:p>
        </p:txBody>
      </p:sp>
      <p:sp>
        <p:nvSpPr>
          <p:cNvPr id="21" name="TextBox 20"/>
          <p:cNvSpPr txBox="1"/>
          <p:nvPr/>
        </p:nvSpPr>
        <p:spPr>
          <a:xfrm>
            <a:off x="777240" y="4160520"/>
            <a:ext cx="10634472" cy="548640"/>
          </a:xfrm>
          <a:prstGeom prst="rect">
            <a:avLst/>
          </a:prstGeom>
          <a:noFill/>
        </p:spPr>
        <p:txBody>
          <a:bodyPr wrap="square" anchor="t" lIns="0" rIns="0" tIns="0" bIns="0">
            <a:spAutoFit/>
          </a:bodyPr>
          <a:lstStyle/>
          <a:p>
            <a:pPr algn="ctr">
              <a:lnSpc>
                <a:spcPct val="100000"/>
              </a:lnSpc>
            </a:pPr>
            <a:r>
              <a:rPr sz="1500" b="0" i="0">
                <a:solidFill>
                  <a:srgbClr val="757474"/>
                </a:solidFill>
                <a:latin typeface="Arial"/>
              </a:rPr>
              <a:t>Streamed by the second, spendable by the second.</a:t>
            </a:r>
          </a:p>
        </p:txBody>
      </p:sp>
      <p:sp>
        <p:nvSpPr>
          <p:cNvPr id="22" name="Rounded Rectangle 21"/>
          <p:cNvSpPr/>
          <p:nvPr/>
        </p:nvSpPr>
        <p:spPr>
          <a:xfrm>
            <a:off x="4651095" y="4892040"/>
            <a:ext cx="2889504" cy="310896"/>
          </a:xfrm>
          <a:prstGeom prst="roundRect">
            <a:avLst>
              <a:gd name="adj" fmla="val 50000"/>
            </a:avLst>
          </a:prstGeom>
          <a:solidFill>
            <a:srgbClr val="E7E8F1"/>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0" bIns="0" wrap="none"/>
          <a:lstStyle/>
          <a:p>
            <a:pPr algn="ctr"/>
            <a:r>
              <a:rPr sz="800" b="0" i="0">
                <a:solidFill>
                  <a:srgbClr val="2B44E7"/>
                </a:solidFill>
                <a:latin typeface="Arial"/>
              </a:rPr>
              <a:t>● </a:t>
            </a:r>
            <a:r>
              <a:rPr sz="950" b="1" i="0" spc="40">
                <a:solidFill>
                  <a:srgbClr val="2B44E7"/>
                </a:solidFill>
                <a:latin typeface="Arial"/>
              </a:rPr>
              <a:t>Live on Arc Testnet</a:t>
            </a:r>
          </a:p>
        </p:txBody>
      </p:sp>
      <p:sp>
        <p:nvSpPr>
          <p:cNvPr id="23" name="TextBox 22"/>
          <p:cNvSpPr txBox="1"/>
          <p:nvPr/>
        </p:nvSpPr>
        <p:spPr>
          <a:xfrm>
            <a:off x="777240" y="5486400"/>
            <a:ext cx="10634472" cy="365760"/>
          </a:xfrm>
          <a:prstGeom prst="rect">
            <a:avLst/>
          </a:prstGeom>
          <a:noFill/>
        </p:spPr>
        <p:txBody>
          <a:bodyPr wrap="square" anchor="t" lIns="0" rIns="0" tIns="0" bIns="0">
            <a:spAutoFit/>
          </a:bodyPr>
          <a:lstStyle/>
          <a:p>
            <a:pPr algn="ctr">
              <a:lnSpc>
                <a:spcPct val="100000"/>
              </a:lnSpc>
            </a:pPr>
            <a:r>
              <a:rPr sz="1200" b="1" i="0">
                <a:solidFill>
                  <a:srgbClr val="171618"/>
                </a:solidFill>
                <a:latin typeface="Consolas"/>
              </a:rPr>
              <a:t>cadenceonarc.tech</a:t>
            </a:r>
            <a:r>
              <a:rPr sz="1200" b="0" i="0">
                <a:solidFill>
                  <a:srgbClr val="908F8E"/>
                </a:solidFill>
                <a:latin typeface="Consolas"/>
              </a:rPr>
              <a:t>      Arc Testnet, chain 5042002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